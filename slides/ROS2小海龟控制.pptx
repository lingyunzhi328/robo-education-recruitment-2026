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82d5fdf6e4e8d" /><Relationship Type="http://schemas.openxmlformats.org/officeDocument/2006/relationships/extended-properties" Target="/docProps/app.xml" Id="R61a3eeacc7b94947" /><Relationship Type="http://schemas.openxmlformats.org/officeDocument/2006/relationships/officeDocument" Target="/ppt/presentation.xml" Id="R61f902ee7366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ac940f7384e78"/>
  </p:sldMasterIdLst>
  <p:notesMasterIdLst>
    <p:notesMasterId xmlns:r="http://schemas.openxmlformats.org/officeDocument/2006/relationships" r:id="R63bcbec9cff34e34"/>
  </p:notesMasterIdLst>
  <p:sldIdLst>
    <p:sldId xmlns:r="http://schemas.openxmlformats.org/officeDocument/2006/relationships" id="256" r:id="Rdfc8114d43614c19"/>
    <p:sldId xmlns:r="http://schemas.openxmlformats.org/officeDocument/2006/relationships" id="257" r:id="R21b30c9fe51b4e8a"/>
    <p:sldId xmlns:r="http://schemas.openxmlformats.org/officeDocument/2006/relationships" id="258" r:id="Rb9f41219891e468b"/>
    <p:sldId xmlns:r="http://schemas.openxmlformats.org/officeDocument/2006/relationships" id="259" r:id="Ra4f0c1284c684420"/>
    <p:sldId xmlns:r="http://schemas.openxmlformats.org/officeDocument/2006/relationships" id="260" r:id="R865c5636596b434f"/>
    <p:sldId xmlns:r="http://schemas.openxmlformats.org/officeDocument/2006/relationships" id="261" r:id="Refa1eea5660c4092"/>
    <p:sldId xmlns:r="http://schemas.openxmlformats.org/officeDocument/2006/relationships" id="262" r:id="R93896dd5ca264a17"/>
    <p:sldId xmlns:r="http://schemas.openxmlformats.org/officeDocument/2006/relationships" id="263" r:id="R1971a03bf0914646"/>
    <p:sldId xmlns:r="http://schemas.openxmlformats.org/officeDocument/2006/relationships" id="264" r:id="R270259ae1fd84809"/>
    <p:sldId xmlns:r="http://schemas.openxmlformats.org/officeDocument/2006/relationships" id="265" r:id="R649d09b873db4f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1b33335ec48c8" /><Relationship Type="http://schemas.openxmlformats.org/officeDocument/2006/relationships/slideMaster" Target="/ppt/slideMasters/slideMaster1.xml" Id="Rdf1ac940f7384e78" /><Relationship Type="http://schemas.openxmlformats.org/officeDocument/2006/relationships/notesMaster" Target="/ppt/notesMasters/notesMaster1.xml" Id="R63bcbec9cff34e34" /><Relationship Type="http://schemas.openxmlformats.org/officeDocument/2006/relationships/presProps" Target="/ppt/presProps.xml" Id="Rb3838d8741844673" /><Relationship Type="http://schemas.openxmlformats.org/officeDocument/2006/relationships/viewProps" Target="/ppt/viewProps.xml" Id="R1072d9570b7e4140" /><Relationship Type="http://schemas.openxmlformats.org/officeDocument/2006/relationships/tableStyles" Target="/ppt/tableStyles.xml" Id="R160a5977768d4a73" /><Relationship Type="http://schemas.openxmlformats.org/officeDocument/2006/relationships/slide" Target="/ppt/slides/slide1.xml" Id="Rdfc8114d43614c19" /><Relationship Type="http://schemas.openxmlformats.org/officeDocument/2006/relationships/slide" Target="/ppt/slides/slide2.xml" Id="R21b30c9fe51b4e8a" /><Relationship Type="http://schemas.openxmlformats.org/officeDocument/2006/relationships/slide" Target="/ppt/slides/slide3.xml" Id="Rb9f41219891e468b" /><Relationship Type="http://schemas.openxmlformats.org/officeDocument/2006/relationships/slide" Target="/ppt/slides/slide4.xml" Id="Ra4f0c1284c684420" /><Relationship Type="http://schemas.openxmlformats.org/officeDocument/2006/relationships/slide" Target="/ppt/slides/slide5.xml" Id="R865c5636596b434f" /><Relationship Type="http://schemas.openxmlformats.org/officeDocument/2006/relationships/slide" Target="/ppt/slides/slide6.xml" Id="Refa1eea5660c4092" /><Relationship Type="http://schemas.openxmlformats.org/officeDocument/2006/relationships/slide" Target="/ppt/slides/slide7.xml" Id="R93896dd5ca264a17" /><Relationship Type="http://schemas.openxmlformats.org/officeDocument/2006/relationships/slide" Target="/ppt/slides/slide8.xml" Id="R1971a03bf0914646" /><Relationship Type="http://schemas.openxmlformats.org/officeDocument/2006/relationships/slide" Target="/ppt/slides/slide9.xml" Id="R270259ae1fd84809" /><Relationship Type="http://schemas.openxmlformats.org/officeDocument/2006/relationships/slide" Target="/ppt/slides/slide10.xml" Id="R649d09b873db4f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eadb577f0d40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f58be7a824e07" /><Relationship Type="http://schemas.openxmlformats.org/officeDocument/2006/relationships/notesMaster" Target="/ppt/notesMasters/notesMaster1.xml" Id="R9ae96bb3b12147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cd93104e543dd" /><Relationship Type="http://schemas.openxmlformats.org/officeDocument/2006/relationships/notesMaster" Target="/ppt/notesMasters/notesMaster1.xml" Id="R4958df978bf4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feed21c6b4f6a" /><Relationship Type="http://schemas.openxmlformats.org/officeDocument/2006/relationships/notesMaster" Target="/ppt/notesMasters/notesMaster1.xml" Id="R9702e9b414f14d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8ab8f4d014dd3" /><Relationship Type="http://schemas.openxmlformats.org/officeDocument/2006/relationships/notesMaster" Target="/ppt/notesMasters/notesMaster1.xml" Id="Ra2fd39c92b6047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c98cda2a14816" /><Relationship Type="http://schemas.openxmlformats.org/officeDocument/2006/relationships/notesMaster" Target="/ppt/notesMasters/notesMaster1.xml" Id="Ra27fcc9180e4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6749ab0c742e1" /><Relationship Type="http://schemas.openxmlformats.org/officeDocument/2006/relationships/notesMaster" Target="/ppt/notesMasters/notesMaster1.xml" Id="Rc3e8c902602a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078ce254247f5" /><Relationship Type="http://schemas.openxmlformats.org/officeDocument/2006/relationships/notesMaster" Target="/ppt/notesMasters/notesMaster1.xml" Id="R17f6b33b540a44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5787f593e7482c" /><Relationship Type="http://schemas.openxmlformats.org/officeDocument/2006/relationships/notesMaster" Target="/ppt/notesMasters/notesMaster1.xml" Id="R43be4db50fb348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234b05b58048cc" /><Relationship Type="http://schemas.openxmlformats.org/officeDocument/2006/relationships/notesMaster" Target="/ppt/notesMasters/notesMaster1.xml" Id="Rd4462633f97e46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e91d68d314275" /><Relationship Type="http://schemas.openxmlformats.org/officeDocument/2006/relationships/notesMaster" Target="/ppt/notesMasters/notesMaster1.xml" Id="Rf7e92050d412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讲解时间：25 秒。</a:t>
            </a:r>
            <a:endParaRPr/>
          </a:p>
          <a:p xmlns:a="http://schemas.openxmlformats.org/drawingml/2006/main">
            <a:r>
              <a:t>今天用一个 Python 节点控制仿真海龟，学会读消息链路。使用课前准备好的环境，现场重点看通信和控制。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图像：imagegen 生成的概念插画，用于教学示意。校徽与题字取自本地《求是蓝模板》，浙江大学融媒体中心学生记者团。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讲解时间：55 秒。</a:t>
            </a:r>
            <a:endParaRPr/>
          </a:p>
          <a:p xmlns:a="http://schemas.openxmlformats.org/drawingml/2006/main">
            <a:r>
              <a:t>可以请同学指出视觉程序通常放在哪个环节。相机提供图像，感知输出目标，控制形成指令，驱动执行。节点是功能和通信单元，一个进程可以容纳多个节点。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https://docs.ros.org/en/jazzy/Tutorials/Beginner-CLI-Tools/Understanding-ROS2-Nodes/Understanding-ROS2-Nodes.html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图像：imagegen 生成的概念插画，用于教学示意。校徽与题字取自本地《求是蓝模板》，浙江大学融媒体中心学生记者团。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讲解时间：75 秒。</a:t>
            </a:r>
            <a:endParaRPr/>
          </a:p>
          <a:p xmlns:a="http://schemas.openxmlformats.org/drawingml/2006/main">
            <a:r>
              <a:t>发布者和订阅者通过同名话题交换同类型消息。本例中控制节点发布 Twist，turtlesim 订阅速度话题。话题名和消息类型各有用途，Twist 中线速度和角速度分别填写。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https://docs.ros.org/en/jazzy/Tutorials/Beginner-CLI-Tools/Understanding-ROS2-Topics/Understanding-ROS2-Topics.html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图像：imagegen 生成的概念插画，用于教学示意。校徽与题字取自本地《求是蓝模板》，浙江大学融媒体中心学生记者团。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讲解时间：65 秒。</a:t>
            </a:r>
            <a:endParaRPr/>
          </a:p>
          <a:p xmlns:a="http://schemas.openxmlformats.org/drawingml/2006/main">
            <a:r>
              <a:t>话题适合持续数据流，服务适合较短的请求和响应，动作用于需要进度、结果和取消的长期目标。这些是交互方式，实时性仍取决于系统实现。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https://docs.ros.org/en/jazzy/Concepts/Basic/About-Services.html</a:t>
            </a:r>
            <a:endParaRPr/>
          </a:p>
          <a:p xmlns:a="http://schemas.openxmlformats.org/drawingml/2006/main">
            <a:r>
              <a:t>https://docs.ros.org/en/jazzy/Concepts/Basic/About-Actions.html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讲解时间：70 秒。</a:t>
            </a:r>
            <a:endParaRPr/>
          </a:p>
          <a:p xmlns:a="http://schemas.openxmlformats.org/drawingml/2006/main">
            <a:r>
              <a:t>先运行仿真，再在新终端加载相同环境并持续发布。linear.x 决定前进，angular.z 决定转向。10 Hz 只表示发送频率。停止持续发布后，用 --once 发送全零 Twist。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https://docs.ros.org/en/jazzy/Tutorials/Beginner-CLI-Tools/Understanding-ROS2-Topics/Understanding-ROS2-Topics.html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讲解时间：85 秒。</a:t>
            </a:r>
            <a:endParaRPr/>
          </a:p>
          <a:p xmlns:a="http://schemas.openxmlformats.org/drawingml/2006/main">
            <a:r>
              <a:t>先找到创建发布器和定时器的位置，再看 tick 如何填充消息并发送。队列深度 10 与发送频率不同，定时周期 0.1 秒对应约 10 Hz。完整 circle_node.py 包含导入、初始化、spin，并在八秒后持续发零速度。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https://docs.ros.org/en/jazzy/Tutorials/Beginner-Client-Libraries/Writing-A-Simple-Py-Publisher-And-Subscriber.html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讲解时间：65 秒。</a:t>
            </a:r>
            <a:endParaRPr/>
          </a:p>
          <a:p xmlns:a="http://schemas.openxmlformats.org/drawingml/2006/main">
            <a:r>
              <a:t>关系来自平面运动学 x_dot=v cos theta，y_dot=v sin theta，theta_dot=omega。保持速度恒定，且没有撞到边界时，半径为 |v/omega|。长度使用 turtlesim 的仿真坐标，实车需要标定。右图仅作圆形运动示意。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图像：imagegen 生成的概念插画，用于教学示意。校徽与题字取自本地《求是蓝模板》，浙江大学融媒体中心学生记者团。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讲解时间：65 秒。</a:t>
            </a:r>
            <a:endParaRPr/>
          </a:p>
          <a:p xmlns:a="http://schemas.openxmlformats.org/drawingml/2006/main">
            <a:r>
              <a:t>先确定环境和节点存在，再看话题名、类型及连接，最后用 echo 观察数据。多个发布者可能互相覆盖指令，域编号和 QoS 不一致也会影响通信。确认消息链路后再改控制算法。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参考：</a:t>
            </a:r>
            <a:endParaRPr/>
          </a:p>
          <a:p xmlns:a="http://schemas.openxmlformats.org/drawingml/2006/main">
            <a:r>
              <a:t>https://docs.ros.org/en/jazzy/Tutorials/Beginner-CLI-Tools/Understanding-ROS2-Nodes/Understanding-ROS2-Nodes.html</a:t>
            </a:r>
            <a:endParaRPr/>
          </a:p>
          <a:p xmlns:a="http://schemas.openxmlformats.org/drawingml/2006/main">
            <a:r>
              <a:t>https://docs.ros.org/en/jazzy/Tutorials/Beginner-CLI-Tools/Understanding-ROS2-Topics/Understanding-ROS2-Topics.html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讲解时间：50 秒。</a:t>
            </a:r>
            <a:endParaRPr/>
          </a:p>
          <a:p xmlns:a="http://schemas.openxmlformats.org/drawingml/2006/main">
            <a:r>
              <a:t>留十秒让同学计算，再讨论参考值。保持 v=1 时，omega 的绝对值应为 0.5，符号改变转向。演示结束后主动发全零 Twist。迁移到实车时还需要驱动侧看门狗。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图像：imagegen 生成的概念插画，用于教学示意。校徽与题字取自本地《求是蓝模板》，浙江大学融媒体中心学生记者团。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讲解时间：45 秒。</a:t>
            </a:r>
            <a:endParaRPr/>
          </a:p>
          <a:p xmlns:a="http://schemas.openxmlformats.org/drawingml/2006/main">
            <a:r>
              <a:t>请一组解释消息链路并演示改变半径和主动停车，另一组按 README 复现。下一课加入位姿反馈与到点控制。真实比赛还需要定位、避障、驱动和急停测试，频率与延迟也要实测。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图像：校园照片、校徽与求是鹰图案沿用《求是蓝模板》，浙江大学融媒体中心学生记者团。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19925fbb949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33e3fe81840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d06ec28db42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4f0a27c4646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363b10e6b4d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9c36906b949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c797299c542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2a163c75348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8e18f4ff04d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0ba5dbbc242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868da10464f0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AFEB6D9-A667-4A00-BA79-5AA262E63F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BA5D85D-5A15-4B00-B3E1-28501AACE1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1267EE7-ABC5-4F15-96E2-46DFE8EAD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F4D921-A1D0-485E-867E-6163F010C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15C0938-FA48-4CCB-805D-F35F0EFD6B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D5FEA0-4A33-4BE3-89F3-B4340F61D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6296AB-1A3F-4B10-B836-B50B182408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1C52684-B4A4-4BBC-9538-918CA59E31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645D9C-6404-45A9-8CCE-E17B192DA8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6602A07-DE79-42BD-8EF9-DCC82A44F5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B75330-6F96-4D78-99E9-FA66405D1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21C155-E575-4800-BAFB-5F71F7B2D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4D310C-B163-4114-920D-0D147F3B76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DD405AD-C38A-4FB6-B6BA-210B932EC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91B81CF-3C9B-4ED8-B9D2-71DD4D2BE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F6E681-99D4-4511-8E18-A4F97CBFE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6FD7FF0-2731-4D0A-8C8A-23DB22701D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3F7587F-21F0-493F-A40A-5B8FD387300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3981B01-CBAA-4467-A55D-FA6165A3A2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554E01-E0EB-4C7B-A39B-E9499209A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FC5701-28F0-41AD-8DDD-1BC6D88806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7E0A7F-9F0B-482C-8369-627CADEBF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1986BC7-4DBB-4AAB-9AE3-89F5FC4FA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A8D0ACD-6745-4387-B40A-236AFFE8F7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9320400-E156-49A6-A6D1-15D1B6E418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8E3386D-C3B6-4BBB-ACAD-E57CE2CD9A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2AD9153-7876-478D-8C8A-739AB6A8F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1C07020-A502-4C0B-8EFE-6390595E18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D2CABBB-8404-4188-9CDF-FC208BF67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CCCE42-A7E3-40C3-94B5-3BCA9DF16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6DC7E8-72D1-4F1D-B558-5869D016FD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C28638B-2AF9-4E11-AA01-B61113FC1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677B12E-7CFA-4BB8-AC50-6A9F6E15A0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478C682-4B4B-48DF-8FE7-CD888712D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C9E3613-D0CE-45AF-A0F7-23BA3DEC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91C6DA6-4502-4DAC-84EE-94BCC373C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206E28-5093-4FAB-A67B-0AAC04F58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2FDAC90-0F2B-4C7D-AB74-1ED4EECA7A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1E8F660-1BD4-42FB-A309-C9A4EAA342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BCEB166-9FC3-466E-B1F4-7263935D92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92812B-FBE9-4E44-BD4A-458DA1061E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0E5AED4-2B10-442D-B955-51528A992C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416C5A-5BE0-4F91-8729-26C326C05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4792FB6-1B91-462F-B91F-9FD3A041835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4D478DE-7362-4F0C-BE80-A4F885A114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A7690B-15F5-4DD2-88D6-3C33B7525B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581376F-C838-4EC9-871C-0FC3ACE82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87CB226-1A53-47BD-A2B6-75BF1276FF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C4D4E0-7AAD-4DFC-B130-91CB4F30D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FE3E61B-E3A3-490B-BCB3-1ACCCB2D4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451EDF-27F8-4FD1-AF64-F3B742A819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BF1B75D-3B7E-42ED-94BC-C8590F6DA2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9E50C9-F56A-446E-AA78-4428E9155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71FC963-FFA0-4980-B55B-8CD310EE7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9EA66F3-C54B-4826-BB51-7F303DEC6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33BAF1-A695-4E3A-9698-091890283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F85499-A261-4474-9E03-E51F7D1862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DFBFB9-0F9A-4F0A-A8F8-4F50AD6A08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71cab8de44e2f" /><Relationship Type="http://schemas.openxmlformats.org/officeDocument/2006/relationships/slideLayout" Target="/ppt/slideLayouts/slideLayout1.xml" Id="R17ea3dd366b543cb" /><Relationship Type="http://schemas.openxmlformats.org/officeDocument/2006/relationships/slideLayout" Target="/ppt/slideLayouts/slideLayout2.xml" Id="Rb13ade00a6424aa0" /><Relationship Type="http://schemas.openxmlformats.org/officeDocument/2006/relationships/slideLayout" Target="/ppt/slideLayouts/slideLayout3.xml" Id="R323513d417b54804" /><Relationship Type="http://schemas.openxmlformats.org/officeDocument/2006/relationships/slideLayout" Target="/ppt/slideLayouts/slideLayout4.xml" Id="R21f78ab0aa0949bd" /><Relationship Type="http://schemas.openxmlformats.org/officeDocument/2006/relationships/slideLayout" Target="/ppt/slideLayouts/slideLayout5.xml" Id="Re9c1f3387cdb4310" /><Relationship Type="http://schemas.openxmlformats.org/officeDocument/2006/relationships/slideLayout" Target="/ppt/slideLayouts/slideLayout6.xml" Id="Raf12d577568b4b79" /><Relationship Type="http://schemas.openxmlformats.org/officeDocument/2006/relationships/slideLayout" Target="/ppt/slideLayouts/slideLayout7.xml" Id="R5cfa3cb0baed4f7b" /><Relationship Type="http://schemas.openxmlformats.org/officeDocument/2006/relationships/slideLayout" Target="/ppt/slideLayouts/slideLayout8.xml" Id="R8415cca5294d4b9a" /><Relationship Type="http://schemas.openxmlformats.org/officeDocument/2006/relationships/slideLayout" Target="/ppt/slideLayouts/slideLayout9.xml" Id="Rf8011f3c0acc4168" /><Relationship Type="http://schemas.openxmlformats.org/officeDocument/2006/relationships/slideLayout" Target="/ppt/slideLayouts/slideLayout10.xml" Id="R582f85eb2d3046c3" /><Relationship Type="http://schemas.openxmlformats.org/officeDocument/2006/relationships/slideLayout" Target="/ppt/slideLayouts/slideLayout11.xml" Id="Rbe26b1bd247b4f7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17903B0-3A3F-45FD-8919-0CE1F6FE4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A2A3680-C466-46B5-9576-1CBDF023C6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25051C-C117-4522-B3B3-7A332F0CE9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50DE5AE-854A-4B80-820C-1ACCD978BA3B}" type="datetimeFigureOut">
              <a:t>2021/10/11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4D47F-AE7F-4BB8-9820-DBD53F1DA6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E87AEAB-85AC-4B60-BB11-E2BA05ED88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F44F22C-E4EF-4ECA-B9AE-8B396F99A3F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a3dd366b543cb"/>
    <p:sldLayoutId xmlns:r="http://schemas.openxmlformats.org/officeDocument/2006/relationships" id="2147483650" r:id="Rb13ade00a6424aa0"/>
    <p:sldLayoutId xmlns:r="http://schemas.openxmlformats.org/officeDocument/2006/relationships" id="2147483651" r:id="R323513d417b54804"/>
    <p:sldLayoutId xmlns:r="http://schemas.openxmlformats.org/officeDocument/2006/relationships" id="2147483652" r:id="R21f78ab0aa0949bd"/>
    <p:sldLayoutId xmlns:r="http://schemas.openxmlformats.org/officeDocument/2006/relationships" id="2147483653" r:id="Re9c1f3387cdb4310"/>
    <p:sldLayoutId xmlns:r="http://schemas.openxmlformats.org/officeDocument/2006/relationships" id="2147483654" r:id="Raf12d577568b4b79"/>
    <p:sldLayoutId xmlns:r="http://schemas.openxmlformats.org/officeDocument/2006/relationships" id="2147483655" r:id="R5cfa3cb0baed4f7b"/>
    <p:sldLayoutId xmlns:r="http://schemas.openxmlformats.org/officeDocument/2006/relationships" id="2147483656" r:id="R8415cca5294d4b9a"/>
    <p:sldLayoutId xmlns:r="http://schemas.openxmlformats.org/officeDocument/2006/relationships" id="2147483657" r:id="Rf8011f3c0acc4168"/>
    <p:sldLayoutId xmlns:r="http://schemas.openxmlformats.org/officeDocument/2006/relationships" id="2147483658" r:id="R582f85eb2d3046c3"/>
    <p:sldLayoutId xmlns:r="http://schemas.openxmlformats.org/officeDocument/2006/relationships" id="2147483659" r:id="Rbe26b1bd247b4f7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844102e33644e9" /><Relationship Type="http://schemas.openxmlformats.org/officeDocument/2006/relationships/image" Target="/ppt/media/image.png" Id="Rc403d6947f22437f" /><Relationship Type="http://schemas.openxmlformats.org/officeDocument/2006/relationships/image" Target="/ppt/media/image2.png" Id="R0e8c82f5d2304bd7" /><Relationship Type="http://schemas.openxmlformats.org/officeDocument/2006/relationships/notesSlide" Target="/ppt/notesSlides/notesSlide1.xml" Id="Rb18a437bbb95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300739b53b4d6f" /><Relationship Type="http://schemas.openxmlformats.org/officeDocument/2006/relationships/image" Target="/ppt/media/image3.png" Id="R132161930cb2451d" /><Relationship Type="http://schemas.openxmlformats.org/officeDocument/2006/relationships/image" Target="/ppt/media/image4.png" Id="R3ec2e7ee789f43c0" /><Relationship Type="http://schemas.openxmlformats.org/officeDocument/2006/relationships/notesSlide" Target="/ppt/notesSlides/notesSlide2.xml" Id="R8faa7ddfa5c347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dca91105924f02" /><Relationship Type="http://schemas.openxmlformats.org/officeDocument/2006/relationships/image" Target="/ppt/media/image5.png" Id="R44934aaf143e4449" /><Relationship Type="http://schemas.openxmlformats.org/officeDocument/2006/relationships/image" Target="/ppt/media/image6.png" Id="R546c0e7afb314a42" /><Relationship Type="http://schemas.openxmlformats.org/officeDocument/2006/relationships/notesSlide" Target="/ppt/notesSlides/notesSlide3.xml" Id="Ra678e46da807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0a974726e54add" /><Relationship Type="http://schemas.openxmlformats.org/officeDocument/2006/relationships/image" Target="/ppt/media/image7.png" Id="Rbf4194beec07417b" /><Relationship Type="http://schemas.openxmlformats.org/officeDocument/2006/relationships/notesSlide" Target="/ppt/notesSlides/notesSlide4.xml" Id="Re51fab1a81874a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0c4d7411db49d5" /><Relationship Type="http://schemas.openxmlformats.org/officeDocument/2006/relationships/image" Target="/ppt/media/image8.png" Id="Rbd03ace941154f18" /><Relationship Type="http://schemas.openxmlformats.org/officeDocument/2006/relationships/notesSlide" Target="/ppt/notesSlides/notesSlide5.xml" Id="R8ae3292871ac4e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dcaca32adc44fa" /><Relationship Type="http://schemas.openxmlformats.org/officeDocument/2006/relationships/image" Target="/ppt/media/image9.png" Id="R2f750fa5ed9e4083" /><Relationship Type="http://schemas.openxmlformats.org/officeDocument/2006/relationships/notesSlide" Target="/ppt/notesSlides/notesSlide6.xml" Id="R4df2fbb8fce1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ef9fa4558e4c34" /><Relationship Type="http://schemas.openxmlformats.org/officeDocument/2006/relationships/image" Target="/ppt/media/image10.png" Id="R06d0907a1e594966" /><Relationship Type="http://schemas.openxmlformats.org/officeDocument/2006/relationships/image" Target="/ppt/media/image11.png" Id="R928f0a3ddbdb4f4d" /><Relationship Type="http://schemas.openxmlformats.org/officeDocument/2006/relationships/notesSlide" Target="/ppt/notesSlides/notesSlide7.xml" Id="Rd192c3b43b1449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f8012ead244059" /><Relationship Type="http://schemas.openxmlformats.org/officeDocument/2006/relationships/image" Target="/ppt/media/image12.png" Id="R636bac4a28124290" /><Relationship Type="http://schemas.openxmlformats.org/officeDocument/2006/relationships/notesSlide" Target="/ppt/notesSlides/notesSlide8.xml" Id="Rb075fee1a62844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6a5e551c644f4f" /><Relationship Type="http://schemas.openxmlformats.org/officeDocument/2006/relationships/image" Target="/ppt/media/image13.png" Id="Rbe666235b2344ebe" /><Relationship Type="http://schemas.openxmlformats.org/officeDocument/2006/relationships/image" Target="/ppt/media/image14.png" Id="R4b6ad419a55647f7" /><Relationship Type="http://schemas.openxmlformats.org/officeDocument/2006/relationships/notesSlide" Target="/ppt/notesSlides/notesSlide9.xml" Id="Ra5db732e77d7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e3f0a7fd194108" /><Relationship Type="http://schemas.openxmlformats.org/officeDocument/2006/relationships/image" Target="/ppt/media/image15.png" Id="R54c9953251bd42ae" /><Relationship Type="http://schemas.openxmlformats.org/officeDocument/2006/relationships/image" Target="/ppt/media/image.svg" Id="R1f0e3aaac7d54429" /><Relationship Type="http://schemas.openxmlformats.org/officeDocument/2006/relationships/image" Target="/ppt/media/image16.png" Id="R6fcdd8fbca2f4a3b" /><Relationship Type="http://schemas.openxmlformats.org/officeDocument/2006/relationships/image" Target="/ppt/media/image2.svg" Id="R33319f25fe164a42" /><Relationship Type="http://schemas.openxmlformats.org/officeDocument/2006/relationships/image" Target="/ppt/media/image17.png" Id="Rf0546b2dc05f4c57" /><Relationship Type="http://schemas.openxmlformats.org/officeDocument/2006/relationships/image" Target="/ppt/media/image3.svg" Id="R5a244eaf48064e7e" /><Relationship Type="http://schemas.openxmlformats.org/officeDocument/2006/relationships/image" Target="/ppt/media/image.jpeg" Id="R87d604774d574211" /><Relationship Type="http://schemas.openxmlformats.org/officeDocument/2006/relationships/notesSlide" Target="/ppt/notesSlides/notesSlide10.xml" Id="R7e4d7830c81a4f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4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3d6947f2243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c82f5d2304bd7"/>
          <a:stretch xmlns:a="http://schemas.openxmlformats.org/drawingml/2006/main"/>
        </p:blipFill>
        <p:spPr>
          <a:xfrm xmlns:a="http://schemas.openxmlformats.org/drawingml/2006/main">
            <a:off x="571500" y="477217"/>
            <a:ext cx="2019300" cy="560040"/>
          </a:xfrm>
          <a:prstGeom xmlns:a="http://schemas.openxmlformats.org/drawingml/2006/main" prst="rect">
            <a:avLst/>
          </a:prstGeom>
        </p:spPr>
      </p:pic>
      <p:sp>
        <p:nvSpPr>
          <p:cNvPr id="3" name="text-ROS 2">
            <a:extLst xmlns:a="http://schemas.openxmlformats.org/drawingml/2006/main">
              <a:ext uri="{FF2B5EF4-FFF2-40B4-BE49-F238E27FC236}">
                <a16:creationId xmlns:a16="http://schemas.microsoft.com/office/drawing/2014/main" id="{0EB59E32-8333-42A6-9883-06BCCCA6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42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ROS 2</a:t>
            </a:r>
          </a:p>
        </p:txBody>
      </p:sp>
      <p:sp>
        <p:nvSpPr>
          <p:cNvPr id="4" name="text-小海龟控制">
            <a:extLst xmlns:a="http://schemas.openxmlformats.org/drawingml/2006/main">
              <a:ext uri="{FF2B5EF4-FFF2-40B4-BE49-F238E27FC236}">
                <a16:creationId xmlns:a16="http://schemas.microsoft.com/office/drawing/2014/main" id="{D196579E-E866-462F-972B-CA8D667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STXingkai"/>
                <a:ea typeface="STXingkai"/>
                <a:cs typeface="STXingkai"/>
              </a:defRPr>
            </a:pPr>
            <a:r>
              <a:rPr sz="6600" b="0">
                <a:solidFill>
                  <a:srgbClr val="FFFFFF"/>
                </a:solidFill>
                <a:latin typeface="STXingkai"/>
                <a:ea typeface="STXingkai"/>
                <a:cs typeface="STXingkai"/>
              </a:rPr>
              <a:t>小海龟控制</a:t>
            </a:r>
          </a:p>
        </p:txBody>
      </p:sp>
      <p:sp>
        <p:nvSpPr>
          <p:cNvPr id="5" name="text-Python 节点与运动指令">
            <a:extLst xmlns:a="http://schemas.openxmlformats.org/drawingml/2006/main">
              <a:ext uri="{FF2B5EF4-FFF2-40B4-BE49-F238E27FC236}">
                <a16:creationId xmlns:a16="http://schemas.microsoft.com/office/drawing/2014/main" id="{CBA2B61A-19A4-4A82-A679-12FF642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Python 节点与运动指令</a:t>
            </a:r>
          </a:p>
        </p:txBody>
      </p:sp>
      <p:sp>
        <p:nvSpPr>
          <p:cNvPr id="6" name="text-郑子毅">
            <a:extLst xmlns:a="http://schemas.openxmlformats.org/drawingml/2006/main">
              <a:ext uri="{FF2B5EF4-FFF2-40B4-BE49-F238E27FC236}">
                <a16:creationId xmlns:a16="http://schemas.microsoft.com/office/drawing/2014/main" id="{AC546F85-06D5-4C4F-B6D5-A9A9E71D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郑子毅</a:t>
            </a:r>
          </a:p>
        </p:txBody>
      </p:sp>
      <p:sp>
        <p:nvSpPr>
          <p:cNvPr id="7" name="text-机协内训   10 分钟">
            <a:extLst xmlns:a="http://schemas.openxmlformats.org/drawingml/2006/main">
              <a:ext uri="{FF2B5EF4-FFF2-40B4-BE49-F238E27FC236}">
                <a16:creationId xmlns:a16="http://schemas.microsoft.com/office/drawing/2014/main" id="{400C6D6B-BA80-43D0-B6AE-710CE4E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960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2D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2DDF8"/>
                </a:solidFill>
                <a:latin typeface="Microsoft YaHei"/>
                <a:ea typeface="Microsoft YaHei"/>
                <a:cs typeface="Microsoft YaHei"/>
              </a:rPr>
              <a:t>机协内训   10 分钟</a:t>
            </a:r>
          </a:p>
        </p:txBody>
      </p:sp>
    </p:spTree>
    <p:extLst>
      <p:ext uri="{BB962C8B-B14F-4D97-AF65-F5344CB8AC3E}">
        <p14:creationId xmlns:p14="http://schemas.microsoft.com/office/powerpoint/2010/main" val="1224484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161930cb2451d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机器人软件的消息协作">
            <a:extLst xmlns:a="http://schemas.openxmlformats.org/drawingml/2006/main">
              <a:ext uri="{FF2B5EF4-FFF2-40B4-BE49-F238E27FC236}">
                <a16:creationId xmlns:a16="http://schemas.microsoft.com/office/drawing/2014/main" id="{AFFBAC35-27E1-4272-9EE2-709D28FB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机器人软件的消息协作</a:t>
            </a:r>
          </a:p>
        </p:txBody>
      </p:sp>
      <p:sp>
        <p:nvSpPr>
          <p:cNvPr id="5" name="text-02">
            <a:extLst xmlns:a="http://schemas.openxmlformats.org/drawingml/2006/main">
              <a:ext uri="{FF2B5EF4-FFF2-40B4-BE49-F238E27FC236}">
                <a16:creationId xmlns:a16="http://schemas.microsoft.com/office/drawing/2014/main" id="{BD66B1C4-2E69-43CB-A6FF-5C642203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传感器节点">
            <a:extLst xmlns:a="http://schemas.openxmlformats.org/drawingml/2006/main">
              <a:ext uri="{FF2B5EF4-FFF2-40B4-BE49-F238E27FC236}">
                <a16:creationId xmlns:a16="http://schemas.microsoft.com/office/drawing/2014/main" id="{C5695068-4C09-453B-B227-BC66C92C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传感器节点</a:t>
            </a:r>
          </a:p>
        </p:txBody>
      </p:sp>
      <p:sp>
        <p:nvSpPr>
          <p:cNvPr id="7" name="感知节点">
            <a:extLst xmlns:a="http://schemas.openxmlformats.org/drawingml/2006/main">
              <a:ext uri="{FF2B5EF4-FFF2-40B4-BE49-F238E27FC236}">
                <a16:creationId xmlns:a16="http://schemas.microsoft.com/office/drawing/2014/main" id="{0A4876EB-5E88-490F-AE2E-9E1D5CD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感知节点</a:t>
            </a:r>
          </a:p>
        </p:txBody>
      </p:sp>
      <p:sp>
        <p:nvSpPr>
          <p:cNvPr id="8" name="控制节点">
            <a:extLst xmlns:a="http://schemas.openxmlformats.org/drawingml/2006/main">
              <a:ext uri="{FF2B5EF4-FFF2-40B4-BE49-F238E27FC236}">
                <a16:creationId xmlns:a16="http://schemas.microsoft.com/office/drawing/2014/main" id="{276DEC4C-8862-4215-9D02-3372A5C1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控制节点</a:t>
            </a:r>
          </a:p>
        </p:txBody>
      </p:sp>
      <p:sp>
        <p:nvSpPr>
          <p:cNvPr id="9" name="驱动节点">
            <a:extLst xmlns:a="http://schemas.openxmlformats.org/drawingml/2006/main">
              <a:ext uri="{FF2B5EF4-FFF2-40B4-BE49-F238E27FC236}">
                <a16:creationId xmlns:a16="http://schemas.microsoft.com/office/drawing/2014/main" id="{EB468E0C-3891-4ABA-B2C9-91431CAE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驱动节点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25241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64587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43575" y="25241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64587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82025" y="2524125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64587"/>
            </a:solidFill>
            <a:tailEnd type="arrow" w="med" len="med"/>
          </a:ln>
        </p:spPr>
      </p:cxnSp>
      <p:sp>
        <p:nvSpPr>
          <p:cNvPr id="13" name="text-图像 / 距离">
            <a:extLst xmlns:a="http://schemas.openxmlformats.org/drawingml/2006/main">
              <a:ext uri="{FF2B5EF4-FFF2-40B4-BE49-F238E27FC236}">
                <a16:creationId xmlns:a16="http://schemas.microsoft.com/office/drawing/2014/main" id="{67584EC3-9DC1-4E08-B9FA-85D8CC7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图像 / 距离</a:t>
            </a:r>
          </a:p>
        </p:txBody>
      </p:sp>
      <p:sp>
        <p:nvSpPr>
          <p:cNvPr id="14" name="text-目标 / 状态">
            <a:extLst xmlns:a="http://schemas.openxmlformats.org/drawingml/2006/main">
              <a:ext uri="{FF2B5EF4-FFF2-40B4-BE49-F238E27FC236}">
                <a16:creationId xmlns:a16="http://schemas.microsoft.com/office/drawing/2014/main" id="{333C6A8D-23E3-4DE0-9075-7EF0E36A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目标 / 状态</a:t>
            </a:r>
          </a:p>
        </p:txBody>
      </p:sp>
      <p:sp>
        <p:nvSpPr>
          <p:cNvPr id="15" name="text-速度指令">
            <a:extLst xmlns:a="http://schemas.openxmlformats.org/drawingml/2006/main">
              <a:ext uri="{FF2B5EF4-FFF2-40B4-BE49-F238E27FC236}">
                <a16:creationId xmlns:a16="http://schemas.microsoft.com/office/drawing/2014/main" id="{19022EBE-07EB-4695-B4AE-AB1EE31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8612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速度指令</a:t>
            </a:r>
          </a:p>
        </p:txBody>
      </p:sp>
      <p:sp>
        <p:nvSpPr>
          <p:cNvPr id="16" name="text-电机输出">
            <a:extLst xmlns:a="http://schemas.openxmlformats.org/drawingml/2006/main">
              <a:ext uri="{FF2B5EF4-FFF2-40B4-BE49-F238E27FC236}">
                <a16:creationId xmlns:a16="http://schemas.microsoft.com/office/drawing/2014/main" id="{1A8CD712-7D02-48AD-B65C-0595BDC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8612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电机输出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2e7ee789f43c0"/>
          <a:srcRect xmlns:a="http://schemas.openxmlformats.org/drawingml/2006/main" l="0" t="11925" r="0" b="119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3075" y="3695700"/>
            <a:ext cx="6067425" cy="2600325"/>
          </a:xfrm>
          <a:prstGeom xmlns:a="http://schemas.openxmlformats.org/drawingml/2006/main" prst="rect">
            <a:avLst/>
          </a:prstGeom>
        </p:spPr>
      </p:pic>
      <p:sp>
        <p:nvSpPr>
          <p:cNvPr id="18" name="text-节点各自处理任务">
            <a:extLst xmlns:a="http://schemas.openxmlformats.org/drawingml/2006/main">
              <a:ext uri="{FF2B5EF4-FFF2-40B4-BE49-F238E27FC236}">
                <a16:creationId xmlns:a16="http://schemas.microsoft.com/office/drawing/2014/main" id="{881B01A2-F2AA-4DC1-B2BD-7083CA6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节点各自处理任务</a:t>
            </a:r>
          </a:p>
        </p:txBody>
      </p:sp>
      <p:sp>
        <p:nvSpPr>
          <p:cNvPr id="19" name="text-消息把各部分连接起来">
            <a:extLst xmlns:a="http://schemas.openxmlformats.org/drawingml/2006/main">
              <a:ext uri="{FF2B5EF4-FFF2-40B4-BE49-F238E27FC236}">
                <a16:creationId xmlns:a16="http://schemas.microsoft.com/office/drawing/2014/main" id="{B8A1BE1E-036A-45C1-B525-33C83C8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消息把各部分连接起来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34aaf143e4449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节点、话题与消息">
            <a:extLst xmlns:a="http://schemas.openxmlformats.org/drawingml/2006/main">
              <a:ext uri="{FF2B5EF4-FFF2-40B4-BE49-F238E27FC236}">
                <a16:creationId xmlns:a16="http://schemas.microsoft.com/office/drawing/2014/main" id="{8DF78C54-8FB5-47EE-9507-6203C3FD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节点、话题与消息</a:t>
            </a:r>
          </a:p>
        </p:txBody>
      </p:sp>
      <p:sp>
        <p:nvSpPr>
          <p:cNvPr id="5" name="text-03">
            <a:extLst xmlns:a="http://schemas.openxmlformats.org/drawingml/2006/main">
              <a:ext uri="{FF2B5EF4-FFF2-40B4-BE49-F238E27FC236}">
                <a16:creationId xmlns:a16="http://schemas.microsoft.com/office/drawing/2014/main" id="{9F010091-F650-40E9-8B6C-2A76191D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控制节点">
            <a:extLst xmlns:a="http://schemas.openxmlformats.org/drawingml/2006/main">
              <a:ext uri="{FF2B5EF4-FFF2-40B4-BE49-F238E27FC236}">
                <a16:creationId xmlns:a16="http://schemas.microsoft.com/office/drawing/2014/main" id="{6F5579DF-63E1-4B10-8BD3-2BF9E3B6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控制节点</a:t>
            </a:r>
          </a:p>
        </p:txBody>
      </p:sp>
      <p:sp>
        <p:nvSpPr>
          <p:cNvPr id="7" name="/turtlesim">
            <a:extLst xmlns:a="http://schemas.openxmlformats.org/drawingml/2006/main">
              <a:ext uri="{FF2B5EF4-FFF2-40B4-BE49-F238E27FC236}">
                <a16:creationId xmlns:a16="http://schemas.microsoft.com/office/drawing/2014/main" id="{769CA5C2-46D4-40B3-94F4-1FC9E078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47875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4587"/>
            </a:solidFill>
          </a:ln>
        </p:spPr>
        <p:txBody>
          <a:bodyPr xmlns:a="http://schemas.openxmlformats.org/drawingml/2006/main" lIns="76200" tIns="95250" rIns="762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/turtlesim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24250" y="2514600"/>
            <a:ext cx="501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64587"/>
            </a:solidFill>
            <a:tailEnd type="arrow" w="med" len="med"/>
          </a:ln>
        </p:spPr>
      </p:cxnSp>
      <p:sp>
        <p:nvSpPr>
          <p:cNvPr id="9" name="text-/turtle1/cmd_vel">
            <a:extLst xmlns:a="http://schemas.openxmlformats.org/drawingml/2006/main">
              <a:ext uri="{FF2B5EF4-FFF2-40B4-BE49-F238E27FC236}">
                <a16:creationId xmlns:a16="http://schemas.microsoft.com/office/drawing/2014/main" id="{BDF1A54B-BD77-443C-80B9-E2E8A7E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76400"/>
            <a:ext cx="4333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64587"/>
                </a:solidFill>
                <a:latin typeface="Consolas"/>
                <a:ea typeface="Consolas"/>
                <a:cs typeface="Consolas"/>
              </a:defRPr>
            </a:pPr>
            <a:r>
              <a:rPr sz="2625" b="1">
                <a:solidFill>
                  <a:srgbClr val="064587"/>
                </a:solidFill>
                <a:latin typeface="Consolas"/>
                <a:ea typeface="Consolas"/>
                <a:cs typeface="Consolas"/>
              </a:rPr>
              <a:t>/turtle1/cmd_vel</a:t>
            </a:r>
          </a:p>
        </p:txBody>
      </p:sp>
      <p:sp>
        <p:nvSpPr>
          <p:cNvPr id="10" name="text-geometry_msgs/msg/Twist">
            <a:extLst xmlns:a="http://schemas.openxmlformats.org/drawingml/2006/main">
              <a:ext uri="{FF2B5EF4-FFF2-40B4-BE49-F238E27FC236}">
                <a16:creationId xmlns:a16="http://schemas.microsoft.com/office/drawing/2014/main" id="{EE0F2CD9-47FD-448A-9A03-09B8233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05150"/>
            <a:ext cx="500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0658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506581"/>
                </a:solidFill>
                <a:latin typeface="Consolas"/>
                <a:ea typeface="Consolas"/>
                <a:cs typeface="Consolas"/>
              </a:rPr>
              <a:t>geometry_msgs/msg/Twist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c0e7afb314a42"/>
          <a:srcRect xmlns:a="http://schemas.openxmlformats.org/drawingml/2006/main" l="0" t="3588" r="0" b="3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4175" y="3714750"/>
            <a:ext cx="4886325" cy="2552700"/>
          </a:xfrm>
          <a:prstGeom xmlns:a="http://schemas.openxmlformats.org/drawingml/2006/main" prst="rect">
            <a:avLst/>
          </a:prstGeom>
        </p:spPr>
      </p:pic>
      <p:sp>
        <p:nvSpPr>
          <p:cNvPr id="12" name="text-linear.x = 1.0">
            <a:extLst xmlns:a="http://schemas.openxmlformats.org/drawingml/2006/main">
              <a:ext uri="{FF2B5EF4-FFF2-40B4-BE49-F238E27FC236}">
                <a16:creationId xmlns:a16="http://schemas.microsoft.com/office/drawing/2014/main" id="{2FB8400D-CB34-43D3-9AC7-596BCB56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4587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064587"/>
                </a:solidFill>
                <a:latin typeface="Consolas"/>
                <a:ea typeface="Consolas"/>
                <a:cs typeface="Consolas"/>
              </a:rPr>
              <a:t>linear.x = 1.0</a:t>
            </a:r>
          </a:p>
        </p:txBody>
      </p:sp>
      <p:sp>
        <p:nvSpPr>
          <p:cNvPr id="13" name="text-前进速度">
            <a:extLst xmlns:a="http://schemas.openxmlformats.org/drawingml/2006/main">
              <a:ext uri="{FF2B5EF4-FFF2-40B4-BE49-F238E27FC236}">
                <a16:creationId xmlns:a16="http://schemas.microsoft.com/office/drawing/2014/main" id="{2452EF07-46BA-4300-ACE1-3E39C1CA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前进速度</a:t>
            </a:r>
          </a:p>
        </p:txBody>
      </p:sp>
      <p:sp>
        <p:nvSpPr>
          <p:cNvPr id="14" name="text-angular.z = 1.0">
            <a:extLst xmlns:a="http://schemas.openxmlformats.org/drawingml/2006/main">
              <a:ext uri="{FF2B5EF4-FFF2-40B4-BE49-F238E27FC236}">
                <a16:creationId xmlns:a16="http://schemas.microsoft.com/office/drawing/2014/main" id="{C1E97187-D88A-4343-AF88-A5488C8C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64587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064587"/>
                </a:solidFill>
                <a:latin typeface="Consolas"/>
                <a:ea typeface="Consolas"/>
                <a:cs typeface="Consolas"/>
              </a:rPr>
              <a:t>angular.z = 1.0</a:t>
            </a:r>
          </a:p>
        </p:txBody>
      </p:sp>
      <p:sp>
        <p:nvSpPr>
          <p:cNvPr id="15" name="text-平面转向速度">
            <a:extLst xmlns:a="http://schemas.openxmlformats.org/drawingml/2006/main">
              <a:ext uri="{FF2B5EF4-FFF2-40B4-BE49-F238E27FC236}">
                <a16:creationId xmlns:a16="http://schemas.microsoft.com/office/drawing/2014/main" id="{FF17C07A-21DF-4649-9DD9-BC59037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平面转向速度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194beec07417b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话题、服务与动作">
            <a:extLst xmlns:a="http://schemas.openxmlformats.org/drawingml/2006/main">
              <a:ext uri="{FF2B5EF4-FFF2-40B4-BE49-F238E27FC236}">
                <a16:creationId xmlns:a16="http://schemas.microsoft.com/office/drawing/2014/main" id="{13256AAA-7E20-4A24-BA59-B0D3A1FD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话题、服务与动作</a:t>
            </a:r>
          </a:p>
        </p:txBody>
      </p:sp>
      <p:sp>
        <p:nvSpPr>
          <p:cNvPr id="5" name="text-04">
            <a:extLst xmlns:a="http://schemas.openxmlformats.org/drawingml/2006/main">
              <a:ext uri="{FF2B5EF4-FFF2-40B4-BE49-F238E27FC236}">
                <a16:creationId xmlns:a16="http://schemas.microsoft.com/office/drawing/2014/main" id="{E44EB730-2F06-4995-89B7-262033C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390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76550"/>
                <a:gridCol w="3848100"/>
                <a:gridCol w="4324350"/>
              </a:tblGrid>
              <a:tr h="847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171450" marR="142875" marT="152400" marB="152400" anchor="ctr">
                    <a:solidFill>
                      <a:srgbClr val="06458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交互方式</a:t>
                      </a:r>
                    </a:p>
                  </a:txBody>
                  <a:tcPr marL="171450" marR="142875" marT="152400" marB="152400" anchor="ctr">
                    <a:solidFill>
                      <a:srgbClr val="06458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机器人例子</a:t>
                      </a:r>
                    </a:p>
                  </a:txBody>
                  <a:tcPr marL="171450" marR="142875" marT="152400" marB="152400" anchor="ctr">
                    <a:solidFill>
                      <a:srgbClr val="064587"/>
                    </a:solidFill>
                  </a:tcPr>
                </a:tc>
              </a:tr>
              <a:tr h="847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话题 Topic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持续发布数据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速度指令、位姿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Service</a:t>
                      </a:r>
                    </a:p>
                  </a:txBody>
                  <a:tcPr marL="171450" marR="142875" marT="152400" marB="152400" anchor="ctr">
                    <a:solidFill>
                      <a:srgbClr val="EBF1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请求与响应</a:t>
                      </a:r>
                    </a:p>
                  </a:txBody>
                  <a:tcPr marL="171450" marR="142875" marT="152400" marB="152400" anchor="ctr">
                    <a:solidFill>
                      <a:srgbClr val="EBF1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重置仿真、查询状态</a:t>
                      </a:r>
                    </a:p>
                  </a:txBody>
                  <a:tcPr marL="171450" marR="142875" marT="152400" marB="152400" anchor="ctr">
                    <a:solidFill>
                      <a:srgbClr val="EBF1F9"/>
                    </a:solidFill>
                  </a:tcPr>
                </a:tc>
              </a:tr>
              <a:tr h="847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 Action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目标与持续反馈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092B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导航、进度与取消</a:t>
                      </a:r>
                    </a:p>
                  </a:txBody>
                  <a:tcPr marL="171450" marR="142875" marT="152400" marB="152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本例的速度指令使用话题">
            <a:extLst xmlns:a="http://schemas.openxmlformats.org/drawingml/2006/main">
              <a:ext uri="{FF2B5EF4-FFF2-40B4-BE49-F238E27FC236}">
                <a16:creationId xmlns:a16="http://schemas.microsoft.com/office/drawing/2014/main" id="{1DA5A758-46A6-4D3D-BDA1-CF288BCB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本例的速度指令使用话题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3ace941154f18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第一条速度指令">
            <a:extLst xmlns:a="http://schemas.openxmlformats.org/drawingml/2006/main">
              <a:ext uri="{FF2B5EF4-FFF2-40B4-BE49-F238E27FC236}">
                <a16:creationId xmlns:a16="http://schemas.microsoft.com/office/drawing/2014/main" id="{21A5CA7F-79DF-4FF1-8C91-322AB932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第一条速度指令</a:t>
            </a:r>
          </a:p>
        </p:txBody>
      </p:sp>
      <p:sp>
        <p:nvSpPr>
          <p:cNvPr id="5" name="text-05">
            <a:extLst xmlns:a="http://schemas.openxmlformats.org/drawingml/2006/main">
              <a:ext uri="{FF2B5EF4-FFF2-40B4-BE49-F238E27FC236}">
                <a16:creationId xmlns:a16="http://schemas.microsoft.com/office/drawing/2014/main" id="{6EAF09F8-0A8A-414B-A621-F9457DFB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-终端 1：启动仿真">
            <a:extLst xmlns:a="http://schemas.openxmlformats.org/drawingml/2006/main">
              <a:ext uri="{FF2B5EF4-FFF2-40B4-BE49-F238E27FC236}">
                <a16:creationId xmlns:a16="http://schemas.microsoft.com/office/drawing/2014/main" id="{8F749E63-FC5B-47C9-B30F-ECEAC0C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终端 1：启动仿真</a:t>
            </a:r>
          </a:p>
        </p:txBody>
      </p:sp>
      <p:sp>
        <p:nvSpPr>
          <p:cNvPr id="7" name="text-source /opt/ros/jazzy/setup.">
            <a:extLst xmlns:a="http://schemas.openxmlformats.org/drawingml/2006/main">
              <a:ext uri="{FF2B5EF4-FFF2-40B4-BE49-F238E27FC236}">
                <a16:creationId xmlns:a16="http://schemas.microsoft.com/office/drawing/2014/main" id="{7B2EF3B7-2F84-46B7-AF97-77166107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1001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source /opt/ros/jazzy/setup.bash</a:t>
            </a:r>
          </a:p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ros2 run turtlesim turtlesim_node</a:t>
            </a:r>
          </a:p>
        </p:txBody>
      </p:sp>
      <p:sp>
        <p:nvSpPr>
          <p:cNvPr id="8" name="text-终端 2：加载环境并发布">
            <a:extLst xmlns:a="http://schemas.openxmlformats.org/drawingml/2006/main">
              <a:ext uri="{FF2B5EF4-FFF2-40B4-BE49-F238E27FC236}">
                <a16:creationId xmlns:a16="http://schemas.microsoft.com/office/drawing/2014/main" id="{7F38FCF3-70CE-40C1-82A7-F57BA13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终端 2：加载环境并发布</a:t>
            </a:r>
          </a:p>
        </p:txBody>
      </p:sp>
      <p:sp>
        <p:nvSpPr>
          <p:cNvPr id="9" name="text-source /opt/ros/jazzy/setup.">
            <a:extLst xmlns:a="http://schemas.openxmlformats.org/drawingml/2006/main">
              <a:ext uri="{FF2B5EF4-FFF2-40B4-BE49-F238E27FC236}">
                <a16:creationId xmlns:a16="http://schemas.microsoft.com/office/drawing/2014/main" id="{2246E9C8-7F94-47A4-B5DC-ECE2055A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1001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source /opt/ros/jazzy/setup.bash</a:t>
            </a:r>
          </a:p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ros2 topic pub --rate 10 /turtle1/cmd_vel \</a:t>
            </a:r>
          </a:p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geometry_msgs/msg/Twist \</a:t>
            </a:r>
          </a:p>
          <a:p xmlns:a="http://schemas.openxmlformats.org/drawingml/2006/main">
            <a:pPr algn="l">
              <a:defRPr sz="232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"{linear: {x: 1.0}, angular: {z: 1.0}}"</a:t>
            </a:r>
          </a:p>
        </p:txBody>
      </p:sp>
      <p:sp>
        <p:nvSpPr>
          <p:cNvPr id="10" name="text-10 Hz 是发布频率，运行前关闭键盘控制器">
            <a:extLst xmlns:a="http://schemas.openxmlformats.org/drawingml/2006/main">
              <a:ext uri="{FF2B5EF4-FFF2-40B4-BE49-F238E27FC236}">
                <a16:creationId xmlns:a16="http://schemas.microsoft.com/office/drawing/2014/main" id="{EA0D6E5C-2D3A-4A43-AF27-1AF301E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10 Hz 是发布频率，运行前关闭键盘控制器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50fa5ed9e4083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Python 发布节点">
            <a:extLst xmlns:a="http://schemas.openxmlformats.org/drawingml/2006/main">
              <a:ext uri="{FF2B5EF4-FFF2-40B4-BE49-F238E27FC236}">
                <a16:creationId xmlns:a16="http://schemas.microsoft.com/office/drawing/2014/main" id="{19AEC08A-FE92-4AA9-9747-846AB82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Python 发布节点</a:t>
            </a:r>
          </a:p>
        </p:txBody>
      </p:sp>
      <p:sp>
        <p:nvSpPr>
          <p:cNvPr id="5" name="text-06">
            <a:extLst xmlns:a="http://schemas.openxmlformats.org/drawingml/2006/main">
              <a:ext uri="{FF2B5EF4-FFF2-40B4-BE49-F238E27FC236}">
                <a16:creationId xmlns:a16="http://schemas.microsoft.com/office/drawing/2014/main" id="{8F7D4488-7941-44CC-A5CC-727B795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class CircleNode(Node):&#10;    ">
            <a:extLst xmlns:a="http://schemas.openxmlformats.org/drawingml/2006/main">
              <a:ext uri="{FF2B5EF4-FFF2-40B4-BE49-F238E27FC236}">
                <a16:creationId xmlns:a16="http://schemas.microsoft.com/office/drawing/2014/main" id="{532BC2B5-9352-48D1-9C46-0170F4B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85825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class CircleNode(Node):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super().__init__('circle_controller')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self.pub = self.create_publisher(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    Twist, '/turtle1/cmd_vel', 10)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self.timer = self.create_timer(0.1, self.tick)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def tick(self):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msg = Twist()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msg.linear.x = 1.0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msg.angular.z = 1.0</a:t>
            </a:r>
          </a:p>
          <a:p xmlns:a="http://schemas.openxmlformats.org/drawingml/2006/main">
            <a:pPr algn="l">
              <a:defRPr sz="2175" b="0">
                <a:solidFill>
                  <a:srgbClr val="092B5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092B52"/>
                </a:solidFill>
                <a:latin typeface="Consolas"/>
                <a:ea typeface="Consolas"/>
                <a:cs typeface="Consolas"/>
              </a:rPr>
              <a:t>        self.pub.publish(msg)</a:t>
            </a:r>
          </a:p>
        </p:txBody>
      </p:sp>
      <p:sp>
        <p:nvSpPr>
          <p:cNvPr id="7" name="text-发布器">
            <a:extLst xmlns:a="http://schemas.openxmlformats.org/drawingml/2006/main">
              <a:ext uri="{FF2B5EF4-FFF2-40B4-BE49-F238E27FC236}">
                <a16:creationId xmlns:a16="http://schemas.microsoft.com/office/drawing/2014/main" id="{D1BA0FAF-416D-433B-8BE0-4D2013C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发布器</a:t>
            </a:r>
          </a:p>
        </p:txBody>
      </p:sp>
      <p:sp>
        <p:nvSpPr>
          <p:cNvPr id="8" name="text-10 是队列深度">
            <a:extLst xmlns:a="http://schemas.openxmlformats.org/drawingml/2006/main">
              <a:ext uri="{FF2B5EF4-FFF2-40B4-BE49-F238E27FC236}">
                <a16:creationId xmlns:a16="http://schemas.microsoft.com/office/drawing/2014/main" id="{E1075237-4D83-4601-BEFF-BF205C8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432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10 是队列深度</a:t>
            </a:r>
          </a:p>
        </p:txBody>
      </p:sp>
      <p:sp>
        <p:nvSpPr>
          <p:cNvPr id="9" name="text-定时器">
            <a:extLst xmlns:a="http://schemas.openxmlformats.org/drawingml/2006/main">
              <a:ext uri="{FF2B5EF4-FFF2-40B4-BE49-F238E27FC236}">
                <a16:creationId xmlns:a16="http://schemas.microsoft.com/office/drawing/2014/main" id="{6FC9383F-1BEE-4B1E-9BCC-35A4609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定时器</a:t>
            </a:r>
          </a:p>
        </p:txBody>
      </p:sp>
      <p:sp>
        <p:nvSpPr>
          <p:cNvPr id="10" name="text-周期 0.1 s">
            <a:extLst xmlns:a="http://schemas.openxmlformats.org/drawingml/2006/main">
              <a:ext uri="{FF2B5EF4-FFF2-40B4-BE49-F238E27FC236}">
                <a16:creationId xmlns:a16="http://schemas.microsoft.com/office/drawing/2014/main" id="{82AA5E6A-5EF2-4628-8A59-48D86A2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周期 0.1 s</a:t>
            </a:r>
          </a:p>
        </p:txBody>
      </p:sp>
      <p:sp>
        <p:nvSpPr>
          <p:cNvPr id="11" name="text-运动指令">
            <a:extLst xmlns:a="http://schemas.openxmlformats.org/drawingml/2006/main">
              <a:ext uri="{FF2B5EF4-FFF2-40B4-BE49-F238E27FC236}">
                <a16:creationId xmlns:a16="http://schemas.microsoft.com/office/drawing/2014/main" id="{5A413218-54A2-4F7B-BAD9-9C9E7C00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529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运动指令</a:t>
            </a:r>
          </a:p>
        </p:txBody>
      </p:sp>
      <p:sp>
        <p:nvSpPr>
          <p:cNvPr id="12" name="text-v = 1，ω = 1">
            <a:extLst xmlns:a="http://schemas.openxmlformats.org/drawingml/2006/main">
              <a:ext uri="{FF2B5EF4-FFF2-40B4-BE49-F238E27FC236}">
                <a16:creationId xmlns:a16="http://schemas.microsoft.com/office/drawing/2014/main" id="{229EC0DF-680B-4DD2-9AD9-B136DB1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01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v = 1，ω = 1</a:t>
            </a:r>
          </a:p>
        </p:txBody>
      </p:sp>
      <p:sp>
        <p:nvSpPr>
          <p:cNvPr id="13" name="text-核心片段，完整程序见 circle_node.py">
            <a:extLst xmlns:a="http://schemas.openxmlformats.org/drawingml/2006/main">
              <a:ext uri="{FF2B5EF4-FFF2-40B4-BE49-F238E27FC236}">
                <a16:creationId xmlns:a16="http://schemas.microsoft.com/office/drawing/2014/main" id="{C57720F3-63B8-4D99-B243-EA64F87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核心片段，完整程序见 circle_node.py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24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0907a1e5949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f0a3ddbdb4f4d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3" name="text-圆形轨迹">
            <a:extLst xmlns:a="http://schemas.openxmlformats.org/drawingml/2006/main">
              <a:ext uri="{FF2B5EF4-FFF2-40B4-BE49-F238E27FC236}">
                <a16:creationId xmlns:a16="http://schemas.microsoft.com/office/drawing/2014/main" id="{A8570A4E-3798-459B-86E2-314AA0AE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FFFFF"/>
                </a:solidFill>
                <a:latin typeface="STXingkai"/>
                <a:ea typeface="STXingkai"/>
                <a:cs typeface="STXingkai"/>
              </a:defRPr>
            </a:pPr>
            <a:r>
              <a:rPr sz="4800" b="0">
                <a:solidFill>
                  <a:srgbClr val="FFFFFF"/>
                </a:solidFill>
                <a:latin typeface="STXingkai"/>
                <a:ea typeface="STXingkai"/>
                <a:cs typeface="STXingkai"/>
              </a:rPr>
              <a:t>圆形轨迹</a:t>
            </a:r>
          </a:p>
        </p:txBody>
      </p:sp>
      <p:sp>
        <p:nvSpPr>
          <p:cNvPr id="4" name="text-07">
            <a:extLst xmlns:a="http://schemas.openxmlformats.org/drawingml/2006/main">
              <a:ext uri="{FF2B5EF4-FFF2-40B4-BE49-F238E27FC236}">
                <a16:creationId xmlns:a16="http://schemas.microsoft.com/office/drawing/2014/main" id="{94E5074E-5766-4DDD-B8DC-D922477C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CFE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FE8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恒定 v，且 ω ≠ 0">
            <a:extLst xmlns:a="http://schemas.openxmlformats.org/drawingml/2006/main">
              <a:ext uri="{FF2B5EF4-FFF2-40B4-BE49-F238E27FC236}">
                <a16:creationId xmlns:a16="http://schemas.microsoft.com/office/drawing/2014/main" id="{2D352319-B7DE-4F45-BA93-73D0761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D3E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D3EAFE"/>
                </a:solidFill>
                <a:latin typeface="Microsoft YaHei"/>
                <a:ea typeface="Microsoft YaHei"/>
                <a:cs typeface="Microsoft YaHei"/>
              </a:rPr>
              <a:t>恒定 v，且 ω ≠ 0</a:t>
            </a:r>
          </a:p>
        </p:txBody>
      </p:sp>
      <p:sp>
        <p:nvSpPr>
          <p:cNvPr id="6" name="text-r = |v / ω|">
            <a:extLst xmlns:a="http://schemas.openxmlformats.org/drawingml/2006/main">
              <a:ext uri="{FF2B5EF4-FFF2-40B4-BE49-F238E27FC236}">
                <a16:creationId xmlns:a16="http://schemas.microsoft.com/office/drawing/2014/main" id="{30C33C95-10B0-4865-9C86-AC475B6C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 = |v / ω|</a:t>
            </a:r>
          </a:p>
        </p:txBody>
      </p:sp>
      <p:sp>
        <p:nvSpPr>
          <p:cNvPr id="7" name="text-v = 1.0，ω = 1.0">
            <a:extLst xmlns:a="http://schemas.openxmlformats.org/drawingml/2006/main">
              <a:ext uri="{FF2B5EF4-FFF2-40B4-BE49-F238E27FC236}">
                <a16:creationId xmlns:a16="http://schemas.microsoft.com/office/drawing/2014/main" id="{D46F4F27-3E11-493B-A60A-39AA2BB8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78E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78E3FA"/>
                </a:solidFill>
                <a:latin typeface="Microsoft YaHei"/>
                <a:ea typeface="Microsoft YaHei"/>
                <a:cs typeface="Microsoft YaHei"/>
              </a:rPr>
              <a:t>v = 1.0，ω = 1.0</a:t>
            </a:r>
          </a:p>
        </p:txBody>
      </p:sp>
      <p:sp>
        <p:nvSpPr>
          <p:cNvPr id="8" name="text-r ≈ 1 个仿真坐标单位">
            <a:extLst xmlns:a="http://schemas.openxmlformats.org/drawingml/2006/main">
              <a:ext uri="{FF2B5EF4-FFF2-40B4-BE49-F238E27FC236}">
                <a16:creationId xmlns:a16="http://schemas.microsoft.com/office/drawing/2014/main" id="{E903F35C-10E5-425F-91B1-3A55C5D5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704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E0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0ECFA"/>
                </a:solidFill>
                <a:latin typeface="Microsoft YaHei"/>
                <a:ea typeface="Microsoft YaHei"/>
                <a:cs typeface="Microsoft YaHei"/>
              </a:rPr>
              <a:t>r ≈ 1 个仿真坐标单位</a:t>
            </a:r>
          </a:p>
        </p:txBody>
      </p:sp>
      <p:sp>
        <p:nvSpPr>
          <p:cNvPr id="9" name="text-同一 v 下，|ω| 越大，转弯越紧">
            <a:extLst xmlns:a="http://schemas.openxmlformats.org/drawingml/2006/main">
              <a:ext uri="{FF2B5EF4-FFF2-40B4-BE49-F238E27FC236}">
                <a16:creationId xmlns:a16="http://schemas.microsoft.com/office/drawing/2014/main" id="{0B0611FA-31A2-4E75-ABB6-1A6938D2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 v 下，|ω| 越大，转弯越紧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182090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bac4a28124290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4" name="text-海龟不动时的排查">
            <a:extLst xmlns:a="http://schemas.openxmlformats.org/drawingml/2006/main">
              <a:ext uri="{FF2B5EF4-FFF2-40B4-BE49-F238E27FC236}">
                <a16:creationId xmlns:a16="http://schemas.microsoft.com/office/drawing/2014/main" id="{4309607C-D280-4A51-ADE8-8628C37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海龟不动时的排查</a:t>
            </a:r>
          </a:p>
        </p:txBody>
      </p:sp>
      <p:sp>
        <p:nvSpPr>
          <p:cNvPr id="5" name="text-08">
            <a:extLst xmlns:a="http://schemas.openxmlformats.org/drawingml/2006/main">
              <a:ext uri="{FF2B5EF4-FFF2-40B4-BE49-F238E27FC236}">
                <a16:creationId xmlns:a16="http://schemas.microsoft.com/office/drawing/2014/main" id="{3FCB8EAA-B96E-456C-B700-BB86DE4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text-01">
            <a:extLst xmlns:a="http://schemas.openxmlformats.org/drawingml/2006/main">
              <a:ext uri="{FF2B5EF4-FFF2-40B4-BE49-F238E27FC236}">
                <a16:creationId xmlns:a16="http://schemas.microsoft.com/office/drawing/2014/main" id="{360BE656-F787-470C-A5FA-B56C42F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104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环境与节点">
            <a:extLst xmlns:a="http://schemas.openxmlformats.org/drawingml/2006/main">
              <a:ext uri="{FF2B5EF4-FFF2-40B4-BE49-F238E27FC236}">
                <a16:creationId xmlns:a16="http://schemas.microsoft.com/office/drawing/2014/main" id="{B596409B-B6EF-437A-934D-29D2D52D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885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环境与节点</a:t>
            </a:r>
          </a:p>
        </p:txBody>
      </p:sp>
      <p:sp>
        <p:nvSpPr>
          <p:cNvPr id="8" name="text-source 环境后，ros2 node list">
            <a:extLst xmlns:a="http://schemas.openxmlformats.org/drawingml/2006/main">
              <a:ext uri="{FF2B5EF4-FFF2-40B4-BE49-F238E27FC236}">
                <a16:creationId xmlns:a16="http://schemas.microsoft.com/office/drawing/2014/main" id="{4930295D-B3C3-4809-A388-0DB014A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24050"/>
            <a:ext cx="636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source 环境后，ros2 node list</a:t>
            </a:r>
          </a:p>
        </p:txBody>
      </p:sp>
      <p:sp>
        <p:nvSpPr>
          <p:cNvPr id="9" name="text-02">
            <a:extLst xmlns:a="http://schemas.openxmlformats.org/drawingml/2006/main">
              <a:ext uri="{FF2B5EF4-FFF2-40B4-BE49-F238E27FC236}">
                <a16:creationId xmlns:a16="http://schemas.microsoft.com/office/drawing/2014/main" id="{3E424955-1C5D-4243-A7F0-D942A315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104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-话题与类型">
            <a:extLst xmlns:a="http://schemas.openxmlformats.org/drawingml/2006/main">
              <a:ext uri="{FF2B5EF4-FFF2-40B4-BE49-F238E27FC236}">
                <a16:creationId xmlns:a16="http://schemas.microsoft.com/office/drawing/2014/main" id="{85290A3C-78F0-42A1-9DFE-6197441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9622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话题与类型</a:t>
            </a:r>
          </a:p>
        </p:txBody>
      </p:sp>
      <p:sp>
        <p:nvSpPr>
          <p:cNvPr id="11" name="text-ros2 topic list -t，核对 Twist">
            <a:extLst xmlns:a="http://schemas.openxmlformats.org/drawingml/2006/main">
              <a:ext uri="{FF2B5EF4-FFF2-40B4-BE49-F238E27FC236}">
                <a16:creationId xmlns:a16="http://schemas.microsoft.com/office/drawing/2014/main" id="{713327CA-5DEF-4B6B-8F7F-85E60B8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00375"/>
            <a:ext cx="636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ros2 topic list -t，核对 Twist</a:t>
            </a:r>
          </a:p>
        </p:txBody>
      </p:sp>
      <p:sp>
        <p:nvSpPr>
          <p:cNvPr id="12" name="text-03">
            <a:extLst xmlns:a="http://schemas.openxmlformats.org/drawingml/2006/main">
              <a:ext uri="{FF2B5EF4-FFF2-40B4-BE49-F238E27FC236}">
                <a16:creationId xmlns:a16="http://schemas.microsoft.com/office/drawing/2014/main" id="{490E822D-C7BD-4EF7-87B9-EB5A99E1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1104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消息与连接">
            <a:extLst xmlns:a="http://schemas.openxmlformats.org/drawingml/2006/main">
              <a:ext uri="{FF2B5EF4-FFF2-40B4-BE49-F238E27FC236}">
                <a16:creationId xmlns:a16="http://schemas.microsoft.com/office/drawing/2014/main" id="{20D1DE97-21C5-4A45-99A8-4DF149AB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386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消息与连接</a:t>
            </a:r>
          </a:p>
        </p:txBody>
      </p:sp>
      <p:sp>
        <p:nvSpPr>
          <p:cNvPr id="14" name="text-ros2 topic echo / ros2 topic">
            <a:extLst xmlns:a="http://schemas.openxmlformats.org/drawingml/2006/main">
              <a:ext uri="{FF2B5EF4-FFF2-40B4-BE49-F238E27FC236}">
                <a16:creationId xmlns:a16="http://schemas.microsoft.com/office/drawing/2014/main" id="{4398A27F-5E86-4800-8888-943D8795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076700"/>
            <a:ext cx="636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ros2 topic echo / ros2 topic info</a:t>
            </a:r>
          </a:p>
        </p:txBody>
      </p:sp>
      <p:sp>
        <p:nvSpPr>
          <p:cNvPr id="15" name="text-04">
            <a:extLst xmlns:a="http://schemas.openxmlformats.org/drawingml/2006/main">
              <a:ext uri="{FF2B5EF4-FFF2-40B4-BE49-F238E27FC236}">
                <a16:creationId xmlns:a16="http://schemas.microsoft.com/office/drawing/2014/main" id="{53DF3B90-A175-4208-B9E9-F990D247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指令来源">
            <a:extLst xmlns:a="http://schemas.openxmlformats.org/drawingml/2006/main">
              <a:ext uri="{FF2B5EF4-FFF2-40B4-BE49-F238E27FC236}">
                <a16:creationId xmlns:a16="http://schemas.microsoft.com/office/drawing/2014/main" id="{5BFBB4FB-1DBB-4EFB-9C1F-F0ED3DE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1149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指令来源</a:t>
            </a:r>
          </a:p>
        </p:txBody>
      </p:sp>
      <p:sp>
        <p:nvSpPr>
          <p:cNvPr id="17" name="text-关闭多余控制器，核对域编号与 QoS">
            <a:extLst xmlns:a="http://schemas.openxmlformats.org/drawingml/2006/main">
              <a:ext uri="{FF2B5EF4-FFF2-40B4-BE49-F238E27FC236}">
                <a16:creationId xmlns:a16="http://schemas.microsoft.com/office/drawing/2014/main" id="{4F1B67C7-EA01-4D6D-8209-216E9F90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153025"/>
            <a:ext cx="636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关闭多余控制器，核对域编号与 QoS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24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66235b2344e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ad419a55647f7"/>
          <a:stretch xmlns:a="http://schemas.openxmlformats.org/drawingml/2006/main"/>
        </p:blipFill>
        <p:spPr>
          <a:xfrm xmlns:a="http://schemas.openxmlformats.org/drawingml/2006/main">
            <a:off x="10059071" y="457200"/>
            <a:ext cx="1579808" cy="438150"/>
          </a:xfrm>
          <a:prstGeom xmlns:a="http://schemas.openxmlformats.org/drawingml/2006/main" prst="rect">
            <a:avLst/>
          </a:prstGeom>
        </p:spPr>
      </p:pic>
      <p:sp>
        <p:nvSpPr>
          <p:cNvPr id="3" name="text-半径小挑战">
            <a:extLst xmlns:a="http://schemas.openxmlformats.org/drawingml/2006/main">
              <a:ext uri="{FF2B5EF4-FFF2-40B4-BE49-F238E27FC236}">
                <a16:creationId xmlns:a16="http://schemas.microsoft.com/office/drawing/2014/main" id="{DB7C9BCF-38E8-4E34-8F7A-C42B569E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FFFFF"/>
                </a:solidFill>
                <a:latin typeface="STXingkai"/>
                <a:ea typeface="STXingkai"/>
                <a:cs typeface="STXingkai"/>
              </a:defRPr>
            </a:pPr>
            <a:r>
              <a:rPr sz="4800" b="0">
                <a:solidFill>
                  <a:srgbClr val="FFFFFF"/>
                </a:solidFill>
                <a:latin typeface="STXingkai"/>
                <a:ea typeface="STXingkai"/>
                <a:cs typeface="STXingkai"/>
              </a:rPr>
              <a:t>半径小挑战</a:t>
            </a:r>
          </a:p>
        </p:txBody>
      </p:sp>
      <p:sp>
        <p:nvSpPr>
          <p:cNvPr id="4" name="text-09">
            <a:extLst xmlns:a="http://schemas.openxmlformats.org/drawingml/2006/main">
              <a:ext uri="{FF2B5EF4-FFF2-40B4-BE49-F238E27FC236}">
                <a16:creationId xmlns:a16="http://schemas.microsoft.com/office/drawing/2014/main" id="{84FBF6B5-82F5-466E-B990-4EA2E48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CFE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FE8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-v = 1.0">
            <a:extLst xmlns:a="http://schemas.openxmlformats.org/drawingml/2006/main">
              <a:ext uri="{FF2B5EF4-FFF2-40B4-BE49-F238E27FC236}">
                <a16:creationId xmlns:a16="http://schemas.microsoft.com/office/drawing/2014/main" id="{C6D79E2F-D20F-46A7-8980-75EB24E3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810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8E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78E3FA"/>
                </a:solidFill>
                <a:latin typeface="Microsoft YaHei"/>
                <a:ea typeface="Microsoft YaHei"/>
                <a:cs typeface="Microsoft YaHei"/>
              </a:rPr>
              <a:t>v = 1.0</a:t>
            </a:r>
          </a:p>
        </p:txBody>
      </p:sp>
      <p:sp>
        <p:nvSpPr>
          <p:cNvPr id="6" name="text-目标半径 r ≈ 2">
            <a:extLst xmlns:a="http://schemas.openxmlformats.org/drawingml/2006/main">
              <a:ext uri="{FF2B5EF4-FFF2-40B4-BE49-F238E27FC236}">
                <a16:creationId xmlns:a16="http://schemas.microsoft.com/office/drawing/2014/main" id="{72AEB0F4-B7A2-4055-B6AE-25DC442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目标半径 r ≈ 2</a:t>
            </a:r>
          </a:p>
        </p:txBody>
      </p:sp>
      <p:sp>
        <p:nvSpPr>
          <p:cNvPr id="7" name="text-ω 应该设成多少？">
            <a:extLst xmlns:a="http://schemas.openxmlformats.org/drawingml/2006/main">
              <a:ext uri="{FF2B5EF4-FFF2-40B4-BE49-F238E27FC236}">
                <a16:creationId xmlns:a16="http://schemas.microsoft.com/office/drawing/2014/main" id="{E1BA24ED-0120-47D6-81BD-928A67F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714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ω 应该设成多少？</a:t>
            </a:r>
          </a:p>
        </p:txBody>
      </p:sp>
      <p:sp>
        <p:nvSpPr>
          <p:cNvPr id="8" name="text-先预测，再修改参数观察轨迹">
            <a:extLst xmlns:a="http://schemas.openxmlformats.org/drawingml/2006/main">
              <a:ext uri="{FF2B5EF4-FFF2-40B4-BE49-F238E27FC236}">
                <a16:creationId xmlns:a16="http://schemas.microsoft.com/office/drawing/2014/main" id="{26862E9A-55CD-4023-881A-D2B32D1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BE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BEDFF"/>
                </a:solidFill>
                <a:latin typeface="Microsoft YaHei"/>
                <a:ea typeface="Microsoft YaHei"/>
                <a:cs typeface="Microsoft YaHei"/>
              </a:rPr>
              <a:t>先预测，再修改参数观察轨迹</a:t>
            </a:r>
          </a:p>
        </p:txBody>
      </p:sp>
      <p:sp>
        <p:nvSpPr>
          <p:cNvPr id="9" name="text-参考：ω = 0.5 或 -0.5，转向相反">
            <a:extLst xmlns:a="http://schemas.openxmlformats.org/drawingml/2006/main">
              <a:ext uri="{FF2B5EF4-FFF2-40B4-BE49-F238E27FC236}">
                <a16:creationId xmlns:a16="http://schemas.microsoft.com/office/drawing/2014/main" id="{37DA4479-E88C-4E31-8EEC-23CC65A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EDC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EDCFC"/>
                </a:solidFill>
                <a:latin typeface="Microsoft YaHei"/>
                <a:ea typeface="Microsoft YaHei"/>
                <a:cs typeface="Microsoft YaHei"/>
              </a:rPr>
              <a:t>参考：ω = 0.5 或 -0.5，转向相反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形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953251bd42ae">
            <a:extLst>
              <a:ext uri="{96DAC541-7B7A-43D3-8B79-37D633B846F1}">
                <asvg:svgBlip xmlns:asvg="http://schemas.microsoft.com/office/drawing/2016/SVG/main" r:embed="R1f0e3aaac7d544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0309" y="1445121"/>
            <a:ext cx="5215098" cy="4330394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46" name="图形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1960" y="2827608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47" name="图形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8912" y="3669555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0BC3B4D-DE95-4660-8889-F39AB20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6552308"/>
            <a:ext cx="12178488" cy="305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pic>
        <p:nvPicPr>
          <p:cNvPr id="49" name="图形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46b2dc05f4c57">
            <a:extLst>
              <a:ext uri="{96DAC541-7B7A-43D3-8B79-37D633B846F1}">
                <asvg:svgBlip xmlns:asvg="http://schemas.microsoft.com/office/drawing/2016/SVG/main" r:embed="R5a244eaf48064e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43909" y="175131"/>
            <a:ext cx="1508654" cy="529352"/>
          </a:xfrm>
          <a:prstGeom xmlns:a="http://schemas.openxmlformats.org/drawingml/2006/main" prst="rect">
            <a:avLst/>
          </a:prstGeom>
        </p:spPr>
      </p:pic>
      <p:pic>
        <p:nvPicPr>
          <p:cNvPr id="50" name="图形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953251bd42ae">
            <a:extLst>
              <a:ext uri="{96DAC541-7B7A-43D3-8B79-37D633B846F1}">
                <asvg:svgBlip xmlns:asvg="http://schemas.microsoft.com/office/drawing/2016/SVG/main" r:embed="R1f0e3aaac7d544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8208" y="426805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1" name="图形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953251bd42ae">
            <a:extLst>
              <a:ext uri="{96DAC541-7B7A-43D3-8B79-37D633B846F1}">
                <asvg:svgBlip xmlns:asvg="http://schemas.microsoft.com/office/drawing/2016/SVG/main" r:embed="R1f0e3aaac7d544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1408" y="4402483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2" name="图形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01408" y="5365067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3" name="图形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3928" y="3360503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4" name="图形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7928" y="673324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5" name="图形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953251bd42ae">
            <a:extLst>
              <a:ext uri="{96DAC541-7B7A-43D3-8B79-37D633B846F1}">
                <asvg:svgBlip xmlns:asvg="http://schemas.microsoft.com/office/drawing/2016/SVG/main" r:embed="R1f0e3aaac7d544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4305" y="4857050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6" name="图形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dd8fbca2f4a3b">
            <a:extLst>
              <a:ext uri="{96DAC541-7B7A-43D3-8B79-37D633B846F1}">
                <asvg:svgBlip xmlns:asvg="http://schemas.microsoft.com/office/drawing/2016/SVG/main" r:embed="R33319f25fe164a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7866" y="4360212"/>
            <a:ext cx="623999" cy="518142"/>
          </a:xfrm>
          <a:prstGeom xmlns:a="http://schemas.openxmlformats.org/drawingml/2006/main" prst="rect">
            <a:avLst/>
          </a:prstGeom>
          <a:effectLst xmlns:a="http://schemas.openxmlformats.org/drawingml/2006/main">
            <a:glow rad="12700">
              <a:schemeClr val="bg1">
                <a:alpha val="41000"/>
              </a:schemeClr>
            </a:glow>
          </a:effectLst>
        </p:spPr>
      </p:pic>
      <p:pic>
        <p:nvPicPr>
          <p:cNvPr id="5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604774d574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504" y="1189878"/>
            <a:ext cx="5961580" cy="4470903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B84F76-B43B-4E71-8003-4CE758E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50" y="1189877"/>
            <a:ext cx="5970535" cy="447090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  <a:alpha val="41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椭圆 3">
            <a:extLst xmlns:a="http://schemas.openxmlformats.org/drawingml/2006/main">
              <a:ext uri="{FF2B5EF4-FFF2-40B4-BE49-F238E27FC236}">
                <a16:creationId xmlns:a16="http://schemas.microsoft.com/office/drawing/2014/main" id="{A7392818-73C7-46DE-ABC6-5F1E158B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222" y="5482886"/>
            <a:ext cx="2987665" cy="7773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DA1C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ABA87259-60BF-4A59-8C35-B1D45E1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335" y="5781218"/>
            <a:ext cx="1863440" cy="2423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DA1C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-验收与下一课">
            <a:extLst xmlns:a="http://schemas.openxmlformats.org/drawingml/2006/main">
              <a:ext uri="{FF2B5EF4-FFF2-40B4-BE49-F238E27FC236}">
                <a16:creationId xmlns:a16="http://schemas.microsoft.com/office/drawing/2014/main" id="{E8B8938D-57C3-4DA6-BEEB-5F837D9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0977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defRPr>
            </a:pPr>
            <a:r>
              <a:rPr sz="4350" b="0">
                <a:solidFill>
                  <a:srgbClr val="064587"/>
                </a:solidFill>
                <a:latin typeface="STXingkai"/>
                <a:ea typeface="STXingkai"/>
                <a:cs typeface="STXingkai"/>
              </a:rPr>
              <a:t>验收与下一课</a:t>
            </a:r>
          </a:p>
        </p:txBody>
      </p:sp>
      <p:sp>
        <p:nvSpPr>
          <p:cNvPr id="40" name="text-解释节点、话题与消息">
            <a:extLst xmlns:a="http://schemas.openxmlformats.org/drawingml/2006/main">
              <a:ext uri="{FF2B5EF4-FFF2-40B4-BE49-F238E27FC236}">
                <a16:creationId xmlns:a16="http://schemas.microsoft.com/office/drawing/2014/main" id="{FFCEF350-4E19-4709-BA35-7F8CF854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521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解释节点、话题与消息</a:t>
            </a:r>
          </a:p>
        </p:txBody>
      </p:sp>
      <p:sp>
        <p:nvSpPr>
          <p:cNvPr id="41" name="text-改变半径，并主动停车">
            <a:extLst xmlns:a="http://schemas.openxmlformats.org/drawingml/2006/main">
              <a:ext uri="{FF2B5EF4-FFF2-40B4-BE49-F238E27FC236}">
                <a16:creationId xmlns:a16="http://schemas.microsoft.com/office/drawing/2014/main" id="{2EF1BEBE-AEF7-4473-B60F-BEAF34E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95725"/>
            <a:ext cx="521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改变半径，并主动停车</a:t>
            </a:r>
          </a:p>
        </p:txBody>
      </p:sp>
      <p:sp>
        <p:nvSpPr>
          <p:cNvPr id="42" name="text-让队友按文档复现">
            <a:extLst xmlns:a="http://schemas.openxmlformats.org/drawingml/2006/main">
              <a:ext uri="{FF2B5EF4-FFF2-40B4-BE49-F238E27FC236}">
                <a16:creationId xmlns:a16="http://schemas.microsoft.com/office/drawing/2014/main" id="{4B804E2D-F497-45E3-A620-79529C2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05350"/>
            <a:ext cx="521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92B52"/>
                </a:solidFill>
                <a:latin typeface="Microsoft YaHei"/>
                <a:ea typeface="Microsoft YaHei"/>
                <a:cs typeface="Microsoft YaHei"/>
              </a:rPr>
              <a:t>让队友按文档复现</a:t>
            </a:r>
          </a:p>
        </p:txBody>
      </p:sp>
      <p:sp>
        <p:nvSpPr>
          <p:cNvPr id="43" name="text-下一课：位姿反馈与到点控制">
            <a:extLst xmlns:a="http://schemas.openxmlformats.org/drawingml/2006/main">
              <a:ext uri="{FF2B5EF4-FFF2-40B4-BE49-F238E27FC236}">
                <a16:creationId xmlns:a16="http://schemas.microsoft.com/office/drawing/2014/main" id="{DC1E3250-5A72-4203-9281-F057921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62600"/>
            <a:ext cx="5219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64587"/>
                </a:solidFill>
                <a:latin typeface="Microsoft YaHei"/>
                <a:ea typeface="Microsoft YaHei"/>
                <a:cs typeface="Microsoft YaHei"/>
              </a:rPr>
              <a:t>下一课：位姿反馈与到点控制</a:t>
            </a:r>
          </a:p>
        </p:txBody>
      </p:sp>
      <p:sp>
        <p:nvSpPr>
          <p:cNvPr id="44" name="text-10">
            <a:extLst xmlns:a="http://schemas.openxmlformats.org/drawingml/2006/main">
              <a:ext uri="{FF2B5EF4-FFF2-40B4-BE49-F238E27FC236}">
                <a16:creationId xmlns:a16="http://schemas.microsoft.com/office/drawing/2014/main" id="{2632BAB3-3258-4FDD-A246-137B2EC7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5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666232"/>
      </p:ext>
    </p:extLst>
  </p:cSld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2026-10-08T15:22:49.6260000Z</dcterms:created>
  <dcterms:modified xsi:type="dcterms:W3CDTF">2026-10-08T15:22:49.6260000Z</dcterms:modified>
</coreProperties>
</file>