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778167e6004f52" /><Relationship Type="http://schemas.openxmlformats.org/officeDocument/2006/relationships/extended-properties" Target="/docProps/app.xml" Id="R1771bea4e331438a" /><Relationship Type="http://schemas.openxmlformats.org/officeDocument/2006/relationships/officeDocument" Target="/ppt/presentation.xml" Id="Rb3d56ce3d6a847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8a1c1f01704ec5"/>
  </p:sldMasterIdLst>
  <p:notesMasterIdLst>
    <p:notesMasterId xmlns:r="http://schemas.openxmlformats.org/officeDocument/2006/relationships" r:id="R3369a709a7e94962"/>
  </p:notesMasterIdLst>
  <p:sldIdLst>
    <p:sldId xmlns:r="http://schemas.openxmlformats.org/officeDocument/2006/relationships" id="256" r:id="R48be49a397b74fed"/>
    <p:sldId xmlns:r="http://schemas.openxmlformats.org/officeDocument/2006/relationships" id="257" r:id="R9c3920a8189645fa"/>
    <p:sldId xmlns:r="http://schemas.openxmlformats.org/officeDocument/2006/relationships" id="258" r:id="R2da6da2440d646ea"/>
    <p:sldId xmlns:r="http://schemas.openxmlformats.org/officeDocument/2006/relationships" id="259" r:id="R67604fc78e424a9e"/>
    <p:sldId xmlns:r="http://schemas.openxmlformats.org/officeDocument/2006/relationships" id="260" r:id="R8e3e4660c3bf43cd"/>
    <p:sldId xmlns:r="http://schemas.openxmlformats.org/officeDocument/2006/relationships" id="261" r:id="R64f65420411640b5"/>
    <p:sldId xmlns:r="http://schemas.openxmlformats.org/officeDocument/2006/relationships" id="262" r:id="R8d8d9dafa8e04277"/>
    <p:sldId xmlns:r="http://schemas.openxmlformats.org/officeDocument/2006/relationships" id="263" r:id="Rb902f8a082a24281"/>
    <p:sldId xmlns:r="http://schemas.openxmlformats.org/officeDocument/2006/relationships" id="264" r:id="R37058bb4dc1e4b86"/>
    <p:sldId xmlns:r="http://schemas.openxmlformats.org/officeDocument/2006/relationships" id="265" r:id="Rb4af27694b7b4c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4e2dcb5d824f6e" /><Relationship Type="http://schemas.openxmlformats.org/officeDocument/2006/relationships/slideMaster" Target="/ppt/slideMasters/slideMaster1.xml" Id="R6d8a1c1f01704ec5" /><Relationship Type="http://schemas.openxmlformats.org/officeDocument/2006/relationships/notesMaster" Target="/ppt/notesMasters/notesMaster1.xml" Id="R3369a709a7e94962" /><Relationship Type="http://schemas.openxmlformats.org/officeDocument/2006/relationships/presProps" Target="/ppt/presProps.xml" Id="Rca883bf81f3741a8" /><Relationship Type="http://schemas.openxmlformats.org/officeDocument/2006/relationships/tableStyles" Target="/ppt/tableStyles.xml" Id="R9b293ce289ec4c90" /><Relationship Type="http://schemas.openxmlformats.org/officeDocument/2006/relationships/slide" Target="/ppt/slides/slide1.xml" Id="R48be49a397b74fed" /><Relationship Type="http://schemas.openxmlformats.org/officeDocument/2006/relationships/slide" Target="/ppt/slides/slide2.xml" Id="R9c3920a8189645fa" /><Relationship Type="http://schemas.openxmlformats.org/officeDocument/2006/relationships/slide" Target="/ppt/slides/slide3.xml" Id="R2da6da2440d646ea" /><Relationship Type="http://schemas.openxmlformats.org/officeDocument/2006/relationships/slide" Target="/ppt/slides/slide4.xml" Id="R67604fc78e424a9e" /><Relationship Type="http://schemas.openxmlformats.org/officeDocument/2006/relationships/slide" Target="/ppt/slides/slide5.xml" Id="R8e3e4660c3bf43cd" /><Relationship Type="http://schemas.openxmlformats.org/officeDocument/2006/relationships/slide" Target="/ppt/slides/slide6.xml" Id="R64f65420411640b5" /><Relationship Type="http://schemas.openxmlformats.org/officeDocument/2006/relationships/slide" Target="/ppt/slides/slide7.xml" Id="R8d8d9dafa8e04277" /><Relationship Type="http://schemas.openxmlformats.org/officeDocument/2006/relationships/slide" Target="/ppt/slides/slide8.xml" Id="Rb902f8a082a24281" /><Relationship Type="http://schemas.openxmlformats.org/officeDocument/2006/relationships/slide" Target="/ppt/slides/slide9.xml" Id="R37058bb4dc1e4b86" /><Relationship Type="http://schemas.openxmlformats.org/officeDocument/2006/relationships/slide" Target="/ppt/slides/slide10.xml" Id="Rb4af27694b7b4c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9b78b639524d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e41686ddaf416b" /><Relationship Type="http://schemas.openxmlformats.org/officeDocument/2006/relationships/notesMaster" Target="/ppt/notesMasters/notesMaster1.xml" Id="R5f0523cbf2e245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b63448bc6c4dd4" /><Relationship Type="http://schemas.openxmlformats.org/officeDocument/2006/relationships/notesMaster" Target="/ppt/notesMasters/notesMaster1.xml" Id="R9aeb87cda1a440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9e8a70beb64b41" /><Relationship Type="http://schemas.openxmlformats.org/officeDocument/2006/relationships/notesMaster" Target="/ppt/notesMasters/notesMaster1.xml" Id="R4e584e91c1a54a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b30071c38f48d0" /><Relationship Type="http://schemas.openxmlformats.org/officeDocument/2006/relationships/notesMaster" Target="/ppt/notesMasters/notesMaster1.xml" Id="R67316befec5e4d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c17c5fa72d430f" /><Relationship Type="http://schemas.openxmlformats.org/officeDocument/2006/relationships/notesMaster" Target="/ppt/notesMasters/notesMaster1.xml" Id="Rbcf8d699d46045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6578feec89431a" /><Relationship Type="http://schemas.openxmlformats.org/officeDocument/2006/relationships/notesMaster" Target="/ppt/notesMasters/notesMaster1.xml" Id="R6137e911d24b45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4fbcca04b746a9" /><Relationship Type="http://schemas.openxmlformats.org/officeDocument/2006/relationships/notesMaster" Target="/ppt/notesMasters/notesMaster1.xml" Id="R7e63f388f1c748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e1ce29fd4d4ec7" /><Relationship Type="http://schemas.openxmlformats.org/officeDocument/2006/relationships/notesMaster" Target="/ppt/notesMasters/notesMaster1.xml" Id="R7f5ad579ceb440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98e8e0b0794c3e" /><Relationship Type="http://schemas.openxmlformats.org/officeDocument/2006/relationships/notesMaster" Target="/ppt/notesMasters/notesMaster1.xml" Id="Rf1fb9ca1a5584f1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0fe6c24bd304e36" /><Relationship Type="http://schemas.openxmlformats.org/officeDocument/2006/relationships/notesMaster" Target="/ppt/notesMasters/notesMaster1.xml" Id="R0aa0d1d12d4d4c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讲解时间：25 秒。</a:t>
            </a:r>
          </a:p>
          <a:p xmlns:a="http://schemas.openxmlformats.org/drawingml/2006/main">
            <a:r>
              <a:t>先说明今天的目标：让一个节点控制仿真海龟，并能读懂消息链路。仅使用已准备好的环境，不现场从零安装。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讲解时间：55 秒。</a:t>
            </a:r>
          </a:p>
          <a:p xmlns:a="http://schemas.openxmlformats.org/drawingml/2006/main">
            <a:r>
              <a:t>请同学指出自己的视觉程序属于哪一个环节。节点是通信与功能组织单元，一个进程可以包含多个节点。来源：https://docs.ros.org/en/jazzy/Tutorials/Beginner-CLI-Tools/Understanding-ROS2-Nodes/Understanding-ROS2-Nodes.html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讲解时间：75 秒。</a:t>
            </a:r>
          </a:p>
          <a:p xmlns:a="http://schemas.openxmlformats.org/drawingml/2006/main">
            <a:r>
              <a:t>控制节点发布 geometry_msgs/msg/Twist，/turtlesim 订阅 /turtle1/cmd_vel。不要把话题名和消息类型混为一谈。来源：https://docs.ros.org/en/jazzy/Tutorials/Beginner-CLI-Tools/Understanding-ROS2-Topics/Understanding-ROS2-Topics.html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讲解时间：65 秒。</a:t>
            </a:r>
          </a:p>
          <a:p xmlns:a="http://schemas.openxmlformats.org/drawingml/2006/main">
            <a:r>
              <a:t>话题可有多个发布者和订阅者。服务通常用于较短的请求与响应，动作能持续反馈、提供结果并支持取消。来源：https://docs.ros.org/en/jazzy/Concepts/Basic/About-Services.html 和 https://docs.ros.org/en/jazzy/Concepts/Basic/About-Actions.html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讲解时间：70 秒。</a:t>
            </a:r>
          </a:p>
          <a:p xmlns:a="http://schemas.openxmlformats.org/drawingml/2006/main">
            <a:r>
              <a:t>运行前关闭键盘控制节点，避免多个发布者同时发送速度。停止持续发布后，用 --once 发布全零 Twist。来源：ROS 2 Jazzy Understanding topics 官方教程。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讲解时间：85 秒。</a:t>
            </a:r>
          </a:p>
          <a:p xmlns:a="http://schemas.openxmlformats.org/drawingml/2006/main">
            <a:r>
              <a:t>让同学分别找到创建发布器、定时回调和 publish。第三个参数 10 是常用队列深度配置，不是 10 Hz。完整 circle_node.py 在八秒后继续发零速度。来源：https://docs.ros.org/en/jazzy/Tutorials/Beginner-Client-Libraries/Writing-A-Simple-Py-Publisher-And-Subscriber.html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讲解时间：65 秒。</a:t>
            </a:r>
          </a:p>
          <a:p xmlns:a="http://schemas.openxmlformats.org/drawingml/2006/main">
            <a:r>
              <a:t>这个关系来自平面运动学：x_dot=v cos theta，y_dot=v sin theta，theta_dot=omega。它要求速度恒定、无边界碰撞。例子中的长度采用 turtlesim 坐标，不能直接当作实车标定。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讲解时间：65 秒。</a:t>
            </a:r>
          </a:p>
          <a:p xmlns:a="http://schemas.openxmlformats.org/drawingml/2006/main">
            <a:r>
              <a:t>按可观测的链路排查，先确认有节点、有连接、有数据，再修改算法。类型、话题名与 QoS 都会影响通信。不要同时运行键盘与自动控制器。来源：ROS 2 Jazzy 节点与话题官方教程。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讲解时间：50 秒。</a:t>
            </a:r>
          </a:p>
          <a:p xmlns:a="http://schemas.openxmlformats.org/drawingml/2006/main">
            <a:r>
              <a:t>先给同学十秒思考，再显示或口头说明参考答案。检查大家是否混淆发布频率与运动速度。全零 Twist 是明确停车命令，迁移实车还要增加驱动侧看门狗。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讲解时间：45 秒。</a:t>
            </a:r>
          </a:p>
          <a:p xmlns:a="http://schemas.openxmlformats.org/drawingml/2006/main">
            <a:r>
              <a:t>今天做的是通信与简单运动控制。比赛中的定位、避障、驱动与紧急停机还需要独立验证，控制频率和延迟也要实测。本 Demo 合计 600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a9acbe2f2444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52b9b621dc4d31" /><Relationship Type="http://schemas.openxmlformats.org/officeDocument/2006/relationships/slideLayout" Target="/ppt/slideLayouts/slideLayout1.xml" Id="R9e5056e06f6249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5056e06f6249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9994c6d9ca407b" /><Relationship Type="http://schemas.openxmlformats.org/officeDocument/2006/relationships/notesSlide" Target="/ppt/notesSlides/notesSlide1.xml" Id="Rfcdcbd9ddd4f4a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c9df8c17840a4" /><Relationship Type="http://schemas.openxmlformats.org/officeDocument/2006/relationships/notesSlide" Target="/ppt/notesSlides/notesSlide2.xml" Id="R8b02fda604264c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73458fd2045ca" /><Relationship Type="http://schemas.openxmlformats.org/officeDocument/2006/relationships/notesSlide" Target="/ppt/notesSlides/notesSlide3.xml" Id="R069b5215bfd14e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7fcf06b3a46a5" /><Relationship Type="http://schemas.openxmlformats.org/officeDocument/2006/relationships/notesSlide" Target="/ppt/notesSlides/notesSlide4.xml" Id="R3a9bee275e1a40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90dcf95dd438a" /><Relationship Type="http://schemas.openxmlformats.org/officeDocument/2006/relationships/notesSlide" Target="/ppt/notesSlides/notesSlide5.xml" Id="R5b68430cde4145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1277d4e66468f" /><Relationship Type="http://schemas.openxmlformats.org/officeDocument/2006/relationships/notesSlide" Target="/ppt/notesSlides/notesSlide6.xml" Id="R6f6a4ca8bbeb45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9c4ba98a349ab" /><Relationship Type="http://schemas.openxmlformats.org/officeDocument/2006/relationships/notesSlide" Target="/ppt/notesSlides/notesSlide7.xml" Id="R747a5b519a1b465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efc5892ae42b0" /><Relationship Type="http://schemas.openxmlformats.org/officeDocument/2006/relationships/notesSlide" Target="/ppt/notesSlides/notesSlide8.xml" Id="R7902d9a69b304c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67ca4f582425f" /><Relationship Type="http://schemas.openxmlformats.org/officeDocument/2006/relationships/notesSlide" Target="/ppt/notesSlides/notesSlide9.xml" Id="R390a1d010e9a49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7d887ee600480a" /><Relationship Type="http://schemas.openxmlformats.org/officeDocument/2006/relationships/notesSlide" Target="/ppt/notesSlides/notesSlide10.xml" Id="R9897edc06a59425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0D88F7-8043-4A8F-A07C-EB49EE86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85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rPr>
              <a:t>ROS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13E386-CF77-4DA7-ADAF-50D97E37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与小海龟控制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F933D-8D76-4CFA-9CBE-0EDD041C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用 Python 节点发送运动指令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51B6FE-3042-42D1-AE30-4D9BD25E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郑子毅 · 机协内训 Demo · 10 分钟</a:t>
            </a:r>
          </a:p>
        </p:txBody>
      </p:sp>
    </p:spTree>
    <p:extLst>
      <p:ext uri="{BB962C8B-B14F-4D97-AF65-F5344CB8AC3E}">
        <p14:creationId xmlns:p14="http://schemas.microsoft.com/office/powerpoint/2010/main" val="4187535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74EE0-E1D2-4740-A73E-A7F44DEA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机器人软件中的消息协作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F2B9B-65E7-41B3-B0B0-FD70C66B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AF2347-914C-492E-A6C5-017149DF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2305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9050">
            <a:solidFill>
              <a:srgbClr val="007D82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08F6BC-D038-4CB1-AF66-6DE27E77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9825"/>
            <a:ext cx="1962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传感器节点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28665-4973-4837-9C2B-B57C8700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600325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D8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6BD4DB-44EE-410B-892F-75019CF8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43125"/>
            <a:ext cx="2305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9050">
            <a:solidFill>
              <a:srgbClr val="007D82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7F170B-E8FA-49FA-83B1-806A29AC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09825"/>
            <a:ext cx="1962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感知节点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94794-CF32-46BF-B256-965FB423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00325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D8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E7369E-3233-4FFF-991A-95534F13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43125"/>
            <a:ext cx="2305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9050">
            <a:solidFill>
              <a:srgbClr val="007D8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5006F4-161D-4FA1-8FCB-BBEA2137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09825"/>
            <a:ext cx="1962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控制节点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A21E37-1959-44D0-AECD-F5DA36EA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00325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D8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E3A3B5-C6E3-4FB3-B73A-4290CBA7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143125"/>
            <a:ext cx="2305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9050">
            <a:solidFill>
              <a:srgbClr val="007D8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C72B93-E6EF-4754-B6E8-A1848C3D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409825"/>
            <a:ext cx="1962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驱动节点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1B763F-67E5-4302-A9D7-23BA14D2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08204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各节点负责清楚的任务，通过消息交换数据。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独立排查一个环节，能减少整套系统一起修改的成本。</a:t>
            </a:r>
          </a:p>
        </p:txBody>
      </p:sp>
    </p:spTree>
    <p:extLst>
      <p:ext uri="{BB962C8B-B14F-4D97-AF65-F5344CB8AC3E}">
        <p14:creationId xmlns:p14="http://schemas.microsoft.com/office/powerpoint/2010/main" val="11364789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5E8C5A-3439-4B61-B59C-31EEC4FC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节点、话题与消息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6456D3-4362-4330-9C18-07283A09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5753F-6963-4670-95B0-739BC2C3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9050">
            <a:solidFill>
              <a:srgbClr val="007D82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DD41D6-9C02-407A-ACEB-941A75B6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2133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控制节点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73D7E-CF72-4F53-9BD3-A3F292A4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847850"/>
            <a:ext cx="25908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9050">
            <a:solidFill>
              <a:srgbClr val="007D8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004667-5C9A-493E-AFDA-A065BBA7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14550"/>
            <a:ext cx="2247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/turtlesim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E92A66-DBFB-48EF-8C14-08A02056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5737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rPr>
              <a:t>/turtle1/cmd_vel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D8CDDE-7484-417B-8EB4-08474733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476500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geometry_msgs/msg/Twist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6A9E2-E468-4DDF-8F5F-D0273093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86000"/>
            <a:ext cx="3810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D8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34E56C-D851-46AE-AB30-9187AAD0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86000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D8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EF23B4-6EF9-47B0-8824-DFE8AC0E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108204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节点：执行功能的参与者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话题：发布者与订阅者约定的通信名称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消息：双方一致的数据类型和字段</a:t>
            </a:r>
          </a:p>
        </p:txBody>
      </p:sp>
    </p:spTree>
    <p:extLst>
      <p:ext uri="{BB962C8B-B14F-4D97-AF65-F5344CB8AC3E}">
        <p14:creationId xmlns:p14="http://schemas.microsoft.com/office/powerpoint/2010/main" val="5953087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016494-EF42-415C-9A2C-1F961AFC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话题、服务与动作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EF075-A65D-456A-A4A3-8CFA8D08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85800" y="1714500"/>
          <a:ext xmlns:a="http://schemas.openxmlformats.org/drawingml/2006/main" cx="108204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095750"/>
                <a:gridCol w="4629150"/>
              </a:tblGrid>
              <a:tr h="809625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42C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机制</a:t>
                      </a:r>
                    </a:p>
                  </a:txBody>
                  <a:tcPr marL="91440" marR="91440" marT="45720" marB="45720">
                    <a:solidFill>
                      <a:srgbClr val="EA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42C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适合的交互</a:t>
                      </a:r>
                    </a:p>
                  </a:txBody>
                  <a:tcPr marL="91440" marR="91440" marT="45720" marB="45720">
                    <a:solidFill>
                      <a:srgbClr val="EA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42C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机器人例子</a:t>
                      </a:r>
                    </a:p>
                  </a:txBody>
                  <a:tcPr marL="91440" marR="91440" marT="45720" marB="45720">
                    <a:solidFill>
                      <a:srgbClr val="EAF5F4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42C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话题 Topic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42C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持续发布数据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42C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速度指令、位姿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42C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服务 Service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42C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请求与响应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42C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重置仿真、查询状态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42C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动作 Action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42C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长期目标与反馈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42C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导航目标与取消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BB792-CD55-4AFF-9C4B-0AF7C4DB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本 Demo 使用话题。一次请求也不自动具有实时性保证。</a:t>
            </a:r>
          </a:p>
        </p:txBody>
      </p:sp>
    </p:spTree>
    <p:extLst>
      <p:ext uri="{BB962C8B-B14F-4D97-AF65-F5344CB8AC3E}">
        <p14:creationId xmlns:p14="http://schemas.microsoft.com/office/powerpoint/2010/main" val="13259170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B1956B-091C-4F78-8070-1C1E54EC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第一条速度指令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127CB7-CFA7-4A3F-BE07-3BA9B647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816E1D-D395-4E56-A2D1-A2DA1DCA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763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source /opt/ros/jazzy/setup.bash</a:t>
            </a:r>
          </a:p>
          <a:p xmlns:a="http://schemas.openxmlformats.org/drawingml/2006/main">
            <a:pPr>
              <a:defRPr sz="202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ros2 run turtlesim turtlesim_node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# 新终端加载相同环境，再发布</a:t>
            </a:r>
          </a:p>
          <a:p xmlns:a="http://schemas.openxmlformats.org/drawingml/2006/main">
            <a:pPr>
              <a:defRPr sz="202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ros2 topic pub --rate 10 /turtle1/cmd_vel \</a:t>
            </a:r>
          </a:p>
          <a:p xmlns:a="http://schemas.openxmlformats.org/drawingml/2006/main">
            <a:pPr>
              <a:defRPr sz="202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  geometry_msgs/msg/Twist \</a:t>
            </a:r>
          </a:p>
          <a:p xmlns:a="http://schemas.openxmlformats.org/drawingml/2006/main">
            <a:pPr>
              <a:defRPr sz="202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  "{linear: {x: 1.0}, angular: {z: 1.0}}"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1CAE6C-1527-41D8-96C6-AB95BEAC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linear.x 控制前进，angular.z 控制平面转向。</a:t>
            </a:r>
          </a:p>
          <a:p xmlns:a="http://schemas.openxmlformats.org/drawingml/2006/main">
            <a:pPr>
              <a:defRPr sz="20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10 Hz 是发布频率，速度大小由消息字段决定。</a:t>
            </a:r>
          </a:p>
        </p:txBody>
      </p:sp>
    </p:spTree>
    <p:extLst>
      <p:ext uri="{BB962C8B-B14F-4D97-AF65-F5344CB8AC3E}">
        <p14:creationId xmlns:p14="http://schemas.microsoft.com/office/powerpoint/2010/main" val="3604838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FCB21-66C4-44F2-8425-D0F72798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Python 发布节点的三个位置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27875A-B90A-4262-A851-610895B3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D1B270-79A9-4FEC-BE6D-D7593EA10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763250" cy="3790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class CircleNode(Node):</a:t>
            </a:r>
          </a:p>
          <a:p xmlns:a="http://schemas.openxmlformats.org/drawingml/2006/main">
            <a:pPr>
              <a:defRPr sz="187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    def __init__(self):</a:t>
            </a:r>
          </a:p>
          <a:p xmlns:a="http://schemas.openxmlformats.org/drawingml/2006/main">
            <a:pPr>
              <a:defRPr sz="187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        super().__init__('circle_controller')</a:t>
            </a:r>
          </a:p>
          <a:p xmlns:a="http://schemas.openxmlformats.org/drawingml/2006/main">
            <a:pPr>
              <a:defRPr sz="187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        self.pub = self.create_publisher(</a:t>
            </a:r>
          </a:p>
          <a:p xmlns:a="http://schemas.openxmlformats.org/drawingml/2006/main">
            <a:pPr>
              <a:defRPr sz="187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            Twist, '/turtle1/cmd_vel', 10)</a:t>
            </a:r>
          </a:p>
          <a:p xmlns:a="http://schemas.openxmlformats.org/drawingml/2006/main">
            <a:pPr>
              <a:defRPr sz="187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        self.timer = self.create_timer(0.1, self.tick)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    def tick(self):</a:t>
            </a:r>
          </a:p>
          <a:p xmlns:a="http://schemas.openxmlformats.org/drawingml/2006/main">
            <a:pPr>
              <a:defRPr sz="187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        msg = Twist()</a:t>
            </a:r>
          </a:p>
          <a:p xmlns:a="http://schemas.openxmlformats.org/drawingml/2006/main">
            <a:pPr>
              <a:defRPr sz="187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        msg.linear.x = 1.0</a:t>
            </a:r>
          </a:p>
          <a:p xmlns:a="http://schemas.openxmlformats.org/drawingml/2006/main">
            <a:pPr>
              <a:defRPr sz="187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        msg.angular.z = 1.0</a:t>
            </a:r>
          </a:p>
          <a:p xmlns:a="http://schemas.openxmlformats.org/drawingml/2006/main">
            <a:pPr>
              <a:defRPr sz="1875" b="0">
                <a:solidFill>
                  <a:srgbClr val="142C3C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42C3C"/>
                </a:solidFill>
                <a:latin typeface="Consolas"/>
                <a:ea typeface="Consolas"/>
                <a:cs typeface="Consolas"/>
              </a:rPr>
              <a:t>        self.pub.publish(msg)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294F7-4AA4-4089-8ADC-650CA950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创建发布器、设置定时器、发布消息。</a:t>
            </a:r>
          </a:p>
          <a:p xmlns:a="http://schemas.openxmlformats.org/drawingml/2006/main">
            <a:pPr>
              <a:defRPr sz="20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这是核心片段。完整示例包含导入、spin 与限时停止。</a:t>
            </a:r>
          </a:p>
        </p:txBody>
      </p:sp>
    </p:spTree>
    <p:extLst>
      <p:ext uri="{BB962C8B-B14F-4D97-AF65-F5344CB8AC3E}">
        <p14:creationId xmlns:p14="http://schemas.microsoft.com/office/powerpoint/2010/main" val="10003800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E308-8387-43BC-8CF9-06F5336D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小海龟走圆的原因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600CA6-F93B-4360-BCCE-44109846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0A764-BC0A-4E52-810D-8A767077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保持线速度 v 与非零角速度 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75D54F-DBF3-4795-959F-4840B05A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rPr>
              <a:t>圆的半径 r = |v / ω|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1987DC-ECFC-4021-B447-8FB056E5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v = 1.0，ω = 1.0，半径约为 1 个仿真坐标单位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相同 v 下，|ω| 越大，转弯越紧</a:t>
            </a:r>
          </a:p>
        </p:txBody>
      </p:sp>
    </p:spTree>
    <p:extLst>
      <p:ext uri="{BB962C8B-B14F-4D97-AF65-F5344CB8AC3E}">
        <p14:creationId xmlns:p14="http://schemas.microsoft.com/office/powerpoint/2010/main" val="13807088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E11349-89D9-420F-A08B-95294475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机器人不动时的排查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89E656-4E4A-4106-AADB-06CA8F5E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5B286D-CE56-45AF-894D-25644034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90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28E293-A691-427E-BB08-B90A142B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73355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环境与节点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B9948C-EE6F-4D97-A28C-5414B3F1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33550"/>
            <a:ext cx="6610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source 环境后，ros2 node list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3194B8-06E5-4B19-8E65-46A04BA3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90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7CDF52-D345-4646-A728-45046196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78130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话题与类型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AA4F74-77D6-48C2-88C5-F03D9EA6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81300"/>
            <a:ext cx="6610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ros2 topic list -t；核对 Twist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DA05A9-5BC9-4BFE-8045-D2976E50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590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25E64D-4738-4198-83A2-E1540254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2905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消息与连接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291CA6-B5B3-4015-971E-423A8AB2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29050"/>
            <a:ext cx="6610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ros2 topic echo；ros2 topic info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14EC5D-76C0-4CAA-9AF2-417EE734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590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50FAAC-6823-4216-9297-F9A51E34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7680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指令来源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2014BD-BD31-4C92-BC6A-D3CED0D8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876800"/>
            <a:ext cx="6610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关闭多余控制器，核对域编号与 QoS</a:t>
            </a:r>
          </a:p>
        </p:txBody>
      </p:sp>
    </p:spTree>
    <p:extLst>
      <p:ext uri="{BB962C8B-B14F-4D97-AF65-F5344CB8AC3E}">
        <p14:creationId xmlns:p14="http://schemas.microsoft.com/office/powerpoint/2010/main" val="2788362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FEB8F1-4FCE-491D-843F-4CEE8987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课内小挑战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1C1E15-E5D2-4B36-ABC5-6574CB5E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825378-4FCA-4399-B038-F35AB838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10820400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保持 v = 1.0，让半径约为 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775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先预测 ω，再修改参数观察轨迹。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775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演示结束时主动发布全零 Twist。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F0C61A-62F1-4C29-A741-13104DA3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D82"/>
                </a:solidFill>
                <a:latin typeface="Microsoft YaHei"/>
                <a:ea typeface="Microsoft YaHei"/>
                <a:cs typeface="Microsoft YaHei"/>
              </a:rPr>
              <a:t>参考：ω = 0.5 或 -0.5，转向相反</a:t>
            </a:r>
          </a:p>
        </p:txBody>
      </p:sp>
    </p:spTree>
    <p:extLst>
      <p:ext uri="{BB962C8B-B14F-4D97-AF65-F5344CB8AC3E}">
        <p14:creationId xmlns:p14="http://schemas.microsoft.com/office/powerpoint/2010/main" val="6297988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B3771-2B3D-47A9-B96F-1417E80F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验收与竞赛迁移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95BACB-12CF-4698-908C-30F0752A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C606C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C0AE4-050A-40F1-9411-F88170CC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820400" cy="411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能解释节点、话题与消息的关系。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550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能改变圆的半径，观察消息，并主动停车。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550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能按 README 让另一位同学复现。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550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42C3C"/>
                </a:solidFill>
                <a:latin typeface="Microsoft YaHei"/>
                <a:ea typeface="Microsoft YaHei"/>
                <a:cs typeface="Microsoft YaHei"/>
              </a:rPr>
              <a:t>下一课加入位姿反馈，再学习实车驱动与安全停机。</a:t>
            </a:r>
          </a:p>
        </p:txBody>
      </p:sp>
    </p:spTree>
    <p:extLst>
      <p:ext uri="{BB962C8B-B14F-4D97-AF65-F5344CB8AC3E}">
        <p14:creationId xmlns:p14="http://schemas.microsoft.com/office/powerpoint/2010/main" val="689181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2026-10-07T07:20:28.7080000Z</dcterms:created>
  <dcterms:modified xsi:type="dcterms:W3CDTF">2026-10-07T07:20:28.7080000Z</dcterms:modified>
</coreProperties>
</file>